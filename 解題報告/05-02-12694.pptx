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"/>
  </p:notesMasterIdLst>
  <p:sldIdLst>
    <p:sldId id="307" r:id="rId2"/>
    <p:sldId id="309" r:id="rId3"/>
    <p:sldId id="310" r:id="rId4"/>
    <p:sldId id="313" r:id="rId5"/>
    <p:sldId id="314" r:id="rId6"/>
    <p:sldId id="315" r:id="rId7"/>
  </p:sldIdLst>
  <p:sldSz cx="9144000" cy="6858000" type="screen4x3"/>
  <p:notesSz cx="6832600" cy="996315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943"/>
    <a:srgbClr val="20C428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29" autoAdjust="0"/>
    <p:restoredTop sz="92138" autoAdjust="0"/>
  </p:normalViewPr>
  <p:slideViewPr>
    <p:cSldViewPr>
      <p:cViewPr varScale="1">
        <p:scale>
          <a:sx n="75" d="100"/>
          <a:sy n="75" d="100"/>
        </p:scale>
        <p:origin x="123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5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5" Type="http://schemas.openxmlformats.org/officeDocument/2006/relationships/slide" Target="slides/slide5.xml"/><Relationship Id="rId4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A2185EE6-E9D7-4D48-D6EA-DBB623B158D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BCD0FB6A-E3C1-AE50-E592-539B3C67EB6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CC8FE0E-59E5-FB8C-130A-42F90F6978B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47713"/>
            <a:ext cx="4981575" cy="3735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11A5AABE-E0A2-8578-2989-6A0ABBB6E1C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32338"/>
            <a:ext cx="5010150" cy="448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3254" name="Rectangle 6">
            <a:extLst>
              <a:ext uri="{FF2B5EF4-FFF2-40B4-BE49-F238E27FC236}">
                <a16:creationId xmlns:a16="http://schemas.microsoft.com/office/drawing/2014/main" id="{586C1688-667F-205D-6FF7-FCF2AAD430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4675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3255" name="Rectangle 7">
            <a:extLst>
              <a:ext uri="{FF2B5EF4-FFF2-40B4-BE49-F238E27FC236}">
                <a16:creationId xmlns:a16="http://schemas.microsoft.com/office/drawing/2014/main" id="{7F9E8B7C-62AF-73AF-B9F5-097EE337B2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64675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824" tIns="45912" rIns="91824" bIns="4591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E635FA84-C878-41F8-A916-C5DB4E3DB9E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22187BCB-68A8-9081-98EA-52B16E34AB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DF97014D-561D-4E7E-87F9-80F3B3B071D8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360C7DDE-1125-2B54-372B-101E03BF98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EA05E726-5803-5456-659C-0D54F6206C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3D224FC-F612-50DD-5CAF-7929E64F6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C0E0E9-46E0-4D80-847D-B13C0745AF9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133E53E-AAE1-D5B6-CCB8-C91CCE069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A73073-459E-B2F2-C541-941671174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3D224FC-F612-50DD-5CAF-7929E64F6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C0E0E9-46E0-4D80-847D-B13C0745AF9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133E53E-AAE1-D5B6-CCB8-C91CCE069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A73073-459E-B2F2-C541-941671174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812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3D224FC-F612-50DD-5CAF-7929E64F6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C0E0E9-46E0-4D80-847D-B13C0745AF9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133E53E-AAE1-D5B6-CCB8-C91CCE069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A73073-459E-B2F2-C541-941671174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058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3D224FC-F612-50DD-5CAF-7929E64F6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C0E0E9-46E0-4D80-847D-B13C0745AF9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133E53E-AAE1-D5B6-CCB8-C91CCE069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A73073-459E-B2F2-C541-941671174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946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B3D224FC-F612-50DD-5CAF-7929E64F6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1C0E0E9-46E0-4D80-847D-B13C0745AF9E}" type="slidenum">
              <a:rPr lang="zh-TW" altLang="en-US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zh-TW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D133E53E-AAE1-D5B6-CCB8-C91CCE0693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FFA73073-459E-B2F2-C541-941671174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776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E971CA2-883F-A112-CB90-7E2FB756A0AB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C915583A-03BD-37C8-D250-B07935100C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F1ECBC57-31B0-5824-42C9-6C324E8F4D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C8052D29-499E-23A7-398C-219E5AFDDD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904A47DB-B832-2391-A627-B1FF7FCCF5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F291C09-7E80-77ED-5063-C904F3FF6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C7CA3E7-6C25-32EB-2201-7828DAD6C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6619CF01-E9F7-6A03-E01E-BD3DB2489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B27EBCD6-DE28-DD3F-6605-A1F68826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D4720701-5C7F-2DFD-7196-662CB54A3F1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</p:grpSp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55EF912C-D3B6-5C8A-B732-91B9C5B041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C9820A-0A24-41B8-993B-E854BDA4D660}" type="datetime1">
              <a:rPr lang="zh-TW" altLang="en-US"/>
              <a:pPr>
                <a:defRPr/>
              </a:pPr>
              <a:t>2024/5/2</a:t>
            </a:fld>
            <a:endParaRPr lang="en-US" altLang="zh-TW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D143781A-DD71-DF71-F768-9C68F35EE2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362200" y="6248400"/>
            <a:ext cx="4953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TW" altLang="en-US"/>
              <a:t>1</a:t>
            </a:r>
            <a:endParaRPr lang="en-US" altLang="zh-TW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EBE28E84-F9DC-E3F6-F05B-B30F489A9D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0914741-ECE0-4C89-8B42-C8E40B9463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92532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C15DDAA-1E14-7815-0B55-D4E1E76496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A44A8-1528-4137-B8C6-9653F40D4225}" type="datetime1">
              <a:rPr lang="zh-TW" altLang="en-US"/>
              <a:pPr>
                <a:defRPr/>
              </a:pPr>
              <a:t>2024/5/2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0F355AD-70C8-5B69-DCAC-AE222EF6CB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24809D3-F71E-383A-39B6-85C55C10A7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9C05B-3FB5-439C-979D-00BA8FE55A1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81209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18E5392-A572-2E0F-2820-AED631651D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1E3D6-6150-4344-94CB-5C143129A0A9}" type="datetime1">
              <a:rPr lang="zh-TW" altLang="en-US"/>
              <a:pPr>
                <a:defRPr/>
              </a:pPr>
              <a:t>2024/5/2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31728FD-BBD1-D9F0-21EF-B54760F5FC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D524A0A-EFC4-A4E4-851B-1E88C1C6E2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1AC06B-961F-459E-AC59-0C6D945D14D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55842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620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5240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BAD61B3-141F-B440-F31B-3351B77397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C2D464-1396-40D3-AB58-BFF97E7B9EA1}" type="datetime1">
              <a:rPr lang="zh-TW" altLang="en-US"/>
              <a:pPr>
                <a:defRPr/>
              </a:pPr>
              <a:t>2024/5/2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1AA0C59-E23B-E431-D9CA-7A4263CA01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E71B6FA-4043-1056-AF21-609C2B159C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C96D74-7EAD-4AAC-B15C-36162078078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14730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3FDC9730-CB25-CB64-30AE-AEAA3F054B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D7E61-85CC-491D-9CA9-D1BD7253AF1B}" type="datetime1">
              <a:rPr lang="zh-TW" altLang="en-US"/>
              <a:pPr>
                <a:defRPr/>
              </a:pPr>
              <a:t>2024/5/2</a:t>
            </a:fld>
            <a:endParaRPr lang="en-US" altLang="zh-TW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FB24D004-9948-2DB6-CCE9-940AA5E85C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C8671795-0F41-122A-2A49-D060C1C5A1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264D3-C1DD-49D4-9033-7BBE82607A0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04062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28C00437-5562-CCA0-BAF6-B22C72A88F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0CAD06-DCFB-4821-8748-C02020485EE1}" type="datetime1">
              <a:rPr lang="zh-TW" altLang="en-US"/>
              <a:pPr>
                <a:defRPr/>
              </a:pPr>
              <a:t>2024/5/2</a:t>
            </a:fld>
            <a:endParaRPr lang="en-US" altLang="zh-TW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7626609-9F47-81C5-30FA-E00D48E619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3785A83-8EEC-13A2-20CD-17E886017E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0596C-8F43-481F-A021-83F7A1785AA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744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54AF2836-4B33-30EE-10E3-0C4B6EBC82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80385B-0CEA-4A28-A14F-3912ACE1B6BF}" type="datetime1">
              <a:rPr lang="zh-TW" altLang="en-US"/>
              <a:pPr>
                <a:defRPr/>
              </a:pPr>
              <a:t>2024/5/2</a:t>
            </a:fld>
            <a:endParaRPr lang="en-US" altLang="zh-TW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F611C4E6-EACA-1EAB-3C94-614DEE3495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477CC5EF-F6E5-1BAE-D2AF-38DF8B1B71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F4832-0BD9-4381-9D3F-87EC218CF2A1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6192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E59DD7C-0A53-5265-5284-0A31D5A306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18A0BD-276C-4A28-87B9-D2CE78248947}" type="datetime1">
              <a:rPr lang="zh-TW" altLang="en-US"/>
              <a:pPr>
                <a:defRPr/>
              </a:pPr>
              <a:t>2024/5/2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DF62CD1-D192-5D39-A854-343CC3714F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8FCFDD0-417F-4E29-42DA-C7CA4CAE83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A3941B-AF75-490B-9958-A29D437DAAC6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1307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219A719-5FB6-177C-8C30-80565958AF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A69659-C65C-4931-BEB7-8D90F6E1266E}" type="datetime1">
              <a:rPr lang="zh-TW" altLang="en-US"/>
              <a:pPr>
                <a:defRPr/>
              </a:pPr>
              <a:t>2024/5/2</a:t>
            </a:fld>
            <a:endParaRPr lang="en-US" altLang="zh-TW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100292E-BC1D-941D-50D9-7CDB1DA3E8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41A44D8F-7152-C3D4-4FB1-59771C6DB3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B3BCF0-A98D-41B7-AB6C-9B07F0AD6B9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03094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BB576B8-D18D-8C2E-78FB-8460873DD5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EECD22-A6BD-479C-AF51-E41C1313E921}" type="datetime1">
              <a:rPr lang="zh-TW" altLang="en-US"/>
              <a:pPr>
                <a:defRPr/>
              </a:pPr>
              <a:t>2024/5/2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57ABB40-2FBE-4186-15CD-2C6E88B77F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54829A3-726B-9DA2-26A6-B9CFF37C1C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312FBE-6C51-44F0-87C5-867709CEC7E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9510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07175" y="381000"/>
            <a:ext cx="1947863" cy="57912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5692775" cy="57912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5FBE34C-8647-E945-0D68-D87B07C154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CA4381-B913-4CD7-973A-16A88126E598}" type="datetime1">
              <a:rPr lang="zh-TW" altLang="en-US"/>
              <a:pPr>
                <a:defRPr/>
              </a:pPr>
              <a:t>2024/5/2</a:t>
            </a:fld>
            <a:endParaRPr lang="en-US" altLang="zh-TW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042EFF0-07CB-37D3-335D-11102E9843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372C818-43AC-1172-9D3E-1922478323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CBCF75-8A39-497D-A69E-69837E8487F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18035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>
            <a:extLst>
              <a:ext uri="{FF2B5EF4-FFF2-40B4-BE49-F238E27FC236}">
                <a16:creationId xmlns:a16="http://schemas.microsoft.com/office/drawing/2014/main" id="{AB224AF2-900E-DAE7-5229-F54F374E5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810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10">
            <a:extLst>
              <a:ext uri="{FF2B5EF4-FFF2-40B4-BE49-F238E27FC236}">
                <a16:creationId xmlns:a16="http://schemas.microsoft.com/office/drawing/2014/main" id="{973285CD-CD98-783F-5D52-25BCA935DB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155" name="Rectangle 11">
            <a:extLst>
              <a:ext uri="{FF2B5EF4-FFF2-40B4-BE49-F238E27FC236}">
                <a16:creationId xmlns:a16="http://schemas.microsoft.com/office/drawing/2014/main" id="{4C9C58B1-7D9E-D94F-5CEA-B3959657C55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7D1EFED7-5D03-4B34-A513-22D6F6BA99B2}" type="datetime1">
              <a:rPr lang="zh-TW" altLang="en-US"/>
              <a:pPr>
                <a:defRPr/>
              </a:pPr>
              <a:t>2024/5/2</a:t>
            </a:fld>
            <a:endParaRPr lang="en-US" altLang="zh-TW"/>
          </a:p>
        </p:txBody>
      </p:sp>
      <p:sp>
        <p:nvSpPr>
          <p:cNvPr id="6156" name="Rectangle 12">
            <a:extLst>
              <a:ext uri="{FF2B5EF4-FFF2-40B4-BE49-F238E27FC236}">
                <a16:creationId xmlns:a16="http://schemas.microsoft.com/office/drawing/2014/main" id="{C92D641B-0140-29FC-FDEC-8D6558C79B3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62200" y="6324600"/>
            <a:ext cx="4953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C88A326E-4756-FAE0-E516-336C3A03498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E1EAD72E-644E-4613-A82C-69D2DF35E96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投影片編號版面配置區 5">
            <a:extLst>
              <a:ext uri="{FF2B5EF4-FFF2-40B4-BE49-F238E27FC236}">
                <a16:creationId xmlns:a16="http://schemas.microsoft.com/office/drawing/2014/main" id="{B6BA2109-D61C-A577-6A4A-74188110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CCAFEB-7870-48B5-B91B-435BFB81D4CD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kumimoji="0" lang="en-US" altLang="zh-TW" sz="140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5D83B340-AE81-2DF9-D3E0-876375630C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3508" y="332656"/>
            <a:ext cx="8856984" cy="914400"/>
          </a:xfrm>
        </p:spPr>
        <p:txBody>
          <a:bodyPr/>
          <a:lstStyle/>
          <a:p>
            <a:pPr eaLnBrk="1" hangingPunct="1"/>
            <a:r>
              <a:rPr lang="en-US" altLang="zh-TW" b="1" dirty="0">
                <a:latin typeface="Times New Roman" panose="02020603050405020304" pitchFamily="18" charset="0"/>
              </a:rPr>
              <a:t>12694: </a:t>
            </a:r>
            <a:r>
              <a:rPr lang="en-US" altLang="zh-TW" b="1" dirty="0" err="1">
                <a:latin typeface="Times New Roman" panose="02020603050405020304" pitchFamily="18" charset="0"/>
              </a:rPr>
              <a:t>MeetingRoomArrangement</a:t>
            </a:r>
            <a:endParaRPr lang="en-US" altLang="zh-TW" dirty="0"/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5F6B6A0F-72CA-095E-2667-CAED777127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077200" cy="4789488"/>
          </a:xfrm>
        </p:spPr>
        <p:txBody>
          <a:bodyPr/>
          <a:lstStyle/>
          <a:p>
            <a:pPr eaLnBrk="1" hangingPunct="1">
              <a:defRPr/>
            </a:pPr>
            <a:r>
              <a:rPr lang="zh-TW" altLang="en-US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★★☆☆☆</a:t>
            </a:r>
          </a:p>
          <a:p>
            <a:pPr eaLnBrk="1" hangingPunct="1"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題組：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Problem Set Archive with Online Judge</a:t>
            </a:r>
          </a:p>
          <a:p>
            <a:pPr eaLnBrk="1" hangingPunct="1"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題號：</a:t>
            </a:r>
            <a:r>
              <a:rPr lang="en-US" altLang="zh-TW" sz="2400" dirty="0">
                <a:latin typeface="Times New Roman" panose="02020603050405020304" pitchFamily="18" charset="0"/>
              </a:rPr>
              <a:t>12694: </a:t>
            </a:r>
            <a:r>
              <a:rPr lang="en-US" altLang="zh-TW" sz="2400" dirty="0" err="1">
                <a:latin typeface="Times New Roman" panose="02020603050405020304" pitchFamily="18" charset="0"/>
              </a:rPr>
              <a:t>MeetingRoomArrangement</a:t>
            </a: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解題者：</a:t>
            </a:r>
            <a:r>
              <a:rPr lang="zh-TW" altLang="en-US" sz="2400" dirty="0">
                <a:latin typeface="Times New Roman" panose="02020603050405020304" pitchFamily="18" charset="0"/>
              </a:rPr>
              <a:t>許育菖</a:t>
            </a: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解題日期：</a:t>
            </a:r>
            <a:r>
              <a:rPr lang="zh-TW" altLang="en-US" sz="2400" dirty="0">
                <a:latin typeface="Times New Roman" panose="02020603050405020304" pitchFamily="18" charset="0"/>
              </a:rPr>
              <a:t>20</a:t>
            </a:r>
            <a:r>
              <a:rPr lang="en-US" altLang="zh-TW" sz="2400" dirty="0">
                <a:latin typeface="Times New Roman" panose="02020603050405020304" pitchFamily="18" charset="0"/>
              </a:rPr>
              <a:t>24</a:t>
            </a:r>
            <a:r>
              <a:rPr lang="zh-TW" altLang="en-US" sz="2400" dirty="0">
                <a:latin typeface="Times New Roman" panose="02020603050405020304" pitchFamily="18" charset="0"/>
              </a:rPr>
              <a:t>年</a:t>
            </a:r>
            <a:r>
              <a:rPr lang="en-US" altLang="zh-TW" sz="2400" dirty="0">
                <a:latin typeface="Times New Roman" panose="02020603050405020304" pitchFamily="18" charset="0"/>
              </a:rPr>
              <a:t>5</a:t>
            </a:r>
            <a:r>
              <a:rPr lang="zh-TW" altLang="en-US" sz="2400" dirty="0">
                <a:latin typeface="Times New Roman" panose="02020603050405020304" pitchFamily="18" charset="0"/>
              </a:rPr>
              <a:t>月</a:t>
            </a:r>
            <a:r>
              <a:rPr lang="en-US" altLang="zh-TW" sz="2400" dirty="0">
                <a:latin typeface="Times New Roman" panose="02020603050405020304" pitchFamily="18" charset="0"/>
              </a:rPr>
              <a:t>2</a:t>
            </a:r>
            <a:r>
              <a:rPr lang="zh-TW" altLang="en-US" sz="2400" dirty="0">
                <a:latin typeface="Times New Roman" panose="02020603050405020304" pitchFamily="18" charset="0"/>
              </a:rPr>
              <a:t>日</a:t>
            </a:r>
            <a:endParaRPr lang="zh-TW" altLang="en-US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400050" lvl="1" indent="0" eaLnBrk="1" hangingPunct="1">
              <a:buNone/>
              <a:defRPr/>
            </a:pPr>
            <a:r>
              <a:rPr lang="zh-TW" altLang="en-US" sz="2400" dirty="0">
                <a:latin typeface="Times New Roman" panose="02020603050405020304" pitchFamily="18" charset="0"/>
              </a:rPr>
              <a:t>有許多人想要借用同一間會議室，每個人開始借用的時間和歸還時間都不太一樣。請問要怎麼安排，才能在</a:t>
            </a:r>
            <a:r>
              <a:rPr lang="en-US" altLang="zh-TW" sz="2400" dirty="0">
                <a:latin typeface="Times New Roman" panose="02020603050405020304" pitchFamily="18" charset="0"/>
              </a:rPr>
              <a:t>10</a:t>
            </a:r>
            <a:r>
              <a:rPr lang="zh-TW" altLang="en-US" sz="2400" dirty="0">
                <a:latin typeface="Times New Roman" panose="02020603050405020304" pitchFamily="18" charset="0"/>
              </a:rPr>
              <a:t>小時內讓</a:t>
            </a:r>
            <a:r>
              <a:rPr lang="zh-TW" altLang="en-US" sz="2400" b="1" dirty="0">
                <a:latin typeface="Times New Roman" panose="02020603050405020304" pitchFamily="18" charset="0"/>
              </a:rPr>
              <a:t>最多人</a:t>
            </a:r>
            <a:r>
              <a:rPr lang="zh-TW" altLang="en-US" sz="2400" dirty="0">
                <a:latin typeface="Times New Roman" panose="02020603050405020304" pitchFamily="18" charset="0"/>
              </a:rPr>
              <a:t>使用到該會議室？</a:t>
            </a:r>
            <a:endParaRPr lang="en-US" altLang="zh-TW" sz="2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編號版面配置區 5">
            <a:extLst>
              <a:ext uri="{FF2B5EF4-FFF2-40B4-BE49-F238E27FC236}">
                <a16:creationId xmlns:a16="http://schemas.microsoft.com/office/drawing/2014/main" id="{32013E47-2F72-3841-6AD5-F546BFF1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7B08AE-DC21-42BD-BDE3-B49E36F9AC30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kumimoji="0" lang="en-US" altLang="zh-TW" sz="140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7B2FB01-CFBC-00E6-7AD6-182B4614DD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260648"/>
            <a:ext cx="8077200" cy="6597352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題意範例：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TW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	</a:t>
            </a:r>
            <a:r>
              <a:rPr lang="en-US" altLang="zh-TW" sz="2400" dirty="0">
                <a:latin typeface="Times New Roman" panose="02020603050405020304" pitchFamily="18" charset="0"/>
              </a:rPr>
              <a:t>input: (</a:t>
            </a:r>
            <a:r>
              <a:rPr lang="zh-TW" altLang="en-US" sz="2400" dirty="0">
                <a:latin typeface="Times New Roman" panose="02020603050405020304" pitchFamily="18" charset="0"/>
              </a:rPr>
              <a:t>起始時間</a:t>
            </a:r>
            <a:r>
              <a:rPr lang="en-US" altLang="zh-TW" sz="2400" dirty="0">
                <a:latin typeface="Times New Roman" panose="02020603050405020304" pitchFamily="18" charset="0"/>
              </a:rPr>
              <a:t>, </a:t>
            </a:r>
            <a:r>
              <a:rPr lang="zh-TW" altLang="en-US" sz="2400" dirty="0">
                <a:latin typeface="Times New Roman" panose="02020603050405020304" pitchFamily="18" charset="0"/>
              </a:rPr>
              <a:t>結束時間</a:t>
            </a:r>
            <a:r>
              <a:rPr lang="en-US" altLang="zh-TW" sz="2400" dirty="0">
                <a:latin typeface="Times New Roman" panose="02020603050405020304" pitchFamily="18" charset="0"/>
              </a:rPr>
              <a:t>)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altLang="zh-TW" sz="2400" dirty="0">
                <a:latin typeface="Times New Roman" panose="02020603050405020304" pitchFamily="18" charset="0"/>
              </a:rPr>
              <a:t>	output: </a:t>
            </a:r>
            <a:r>
              <a:rPr lang="zh-TW" altLang="en-US" sz="2400" dirty="0">
                <a:latin typeface="Times New Roman" panose="02020603050405020304" pitchFamily="18" charset="0"/>
              </a:rPr>
              <a:t>多少人可以借用</a:t>
            </a: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TW" sz="24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TW" sz="20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TW" sz="2400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zh-TW" altLang="en-US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解法：</a:t>
            </a:r>
            <a:r>
              <a:rPr lang="en-US" altLang="zh-TW" sz="2400" b="1" dirty="0">
                <a:solidFill>
                  <a:schemeClr val="accent4"/>
                </a:solidFill>
                <a:latin typeface="Times New Roman" panose="02020603050405020304" pitchFamily="18" charset="0"/>
              </a:rPr>
              <a:t>【</a:t>
            </a:r>
            <a:r>
              <a:rPr lang="zh-TW" altLang="en-US" sz="2400" b="1" dirty="0">
                <a:solidFill>
                  <a:schemeClr val="accent4"/>
                </a:solidFill>
                <a:latin typeface="Times New Roman" panose="02020603050405020304" pitchFamily="18" charset="0"/>
              </a:rPr>
              <a:t>以結束時間進行排序</a:t>
            </a:r>
            <a:r>
              <a:rPr lang="en-US" altLang="zh-TW" sz="2400" b="1" dirty="0">
                <a:latin typeface="Times New Roman" panose="02020603050405020304" pitchFamily="18" charset="0"/>
                <a:sym typeface="Wingdings" panose="05000000000000000000" pitchFamily="2" charset="2"/>
              </a:rPr>
              <a:t>】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42A3536-685B-463B-E270-685DE4A3E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468657"/>
              </p:ext>
            </p:extLst>
          </p:nvPr>
        </p:nvGraphicFramePr>
        <p:xfrm>
          <a:off x="1643844" y="1740630"/>
          <a:ext cx="5856312" cy="3377184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976052">
                  <a:extLst>
                    <a:ext uri="{9D8B030D-6E8A-4147-A177-3AD203B41FA5}">
                      <a16:colId xmlns:a16="http://schemas.microsoft.com/office/drawing/2014/main" val="3753218526"/>
                    </a:ext>
                  </a:extLst>
                </a:gridCol>
                <a:gridCol w="976052">
                  <a:extLst>
                    <a:ext uri="{9D8B030D-6E8A-4147-A177-3AD203B41FA5}">
                      <a16:colId xmlns:a16="http://schemas.microsoft.com/office/drawing/2014/main" val="3367504359"/>
                    </a:ext>
                  </a:extLst>
                </a:gridCol>
                <a:gridCol w="976052">
                  <a:extLst>
                    <a:ext uri="{9D8B030D-6E8A-4147-A177-3AD203B41FA5}">
                      <a16:colId xmlns:a16="http://schemas.microsoft.com/office/drawing/2014/main" val="1393985059"/>
                    </a:ext>
                  </a:extLst>
                </a:gridCol>
                <a:gridCol w="976052">
                  <a:extLst>
                    <a:ext uri="{9D8B030D-6E8A-4147-A177-3AD203B41FA5}">
                      <a16:colId xmlns:a16="http://schemas.microsoft.com/office/drawing/2014/main" val="2637064353"/>
                    </a:ext>
                  </a:extLst>
                </a:gridCol>
                <a:gridCol w="976052">
                  <a:extLst>
                    <a:ext uri="{9D8B030D-6E8A-4147-A177-3AD203B41FA5}">
                      <a16:colId xmlns:a16="http://schemas.microsoft.com/office/drawing/2014/main" val="137865025"/>
                    </a:ext>
                  </a:extLst>
                </a:gridCol>
                <a:gridCol w="976052">
                  <a:extLst>
                    <a:ext uri="{9D8B030D-6E8A-4147-A177-3AD203B41FA5}">
                      <a16:colId xmlns:a16="http://schemas.microsoft.com/office/drawing/2014/main" val="1646211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input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output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input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output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input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output</a:t>
                      </a:r>
                      <a:endParaRPr lang="zh-TW" altLang="en-US" dirty="0"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749684"/>
                  </a:ext>
                </a:extLst>
              </a:tr>
              <a:tr h="363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latin typeface="+mn-ea"/>
                          <a:ea typeface="+mn-ea"/>
                        </a:rPr>
                        <a:t>0 6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5 7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8 9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latin typeface="+mn-ea"/>
                          <a:ea typeface="+mn-ea"/>
                        </a:rPr>
                        <a:t>5 9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1 2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3 4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latin typeface="+mn-ea"/>
                          <a:ea typeface="+mn-ea"/>
                        </a:rPr>
                        <a:t>0 5</a:t>
                      </a:r>
                      <a:endParaRPr lang="zh-TW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zh-TW" dirty="0"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altLang="zh-TW" dirty="0"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altLang="zh-TW" dirty="0"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latin typeface="+mn-ea"/>
                          <a:ea typeface="+mn-ea"/>
                        </a:rPr>
                        <a:t>4</a:t>
                      </a:r>
                      <a:endParaRPr lang="zh-TW" altLang="en-US" dirty="0">
                        <a:latin typeface="+mn-ea"/>
                        <a:ea typeface="+mn-ea"/>
                      </a:endParaRP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6 10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5 6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0 3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latin typeface="+mn-ea"/>
                          <a:ea typeface="+mn-ea"/>
                        </a:rPr>
                        <a:t>0 5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3 5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latin typeface="+mn-ea"/>
                          <a:ea typeface="+mn-ea"/>
                        </a:rPr>
                        <a:t>4 5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zh-TW" dirty="0"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altLang="zh-TW" dirty="0"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altLang="zh-TW" dirty="0"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latin typeface="+mn-ea"/>
                          <a:ea typeface="+mn-ea"/>
                        </a:rPr>
                        <a:t>4</a:t>
                      </a:r>
                      <a:endParaRPr lang="zh-TW" altLang="en-US" dirty="0">
                        <a:latin typeface="+mn-ea"/>
                        <a:ea typeface="+mn-ea"/>
                      </a:endParaRPr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+mn-ea"/>
                          <a:ea typeface="+mn-ea"/>
                        </a:rPr>
                        <a:t>1 5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latin typeface="+mn-ea"/>
                          <a:ea typeface="+mn-ea"/>
                        </a:rPr>
                        <a:t>3 9</a:t>
                      </a:r>
                      <a:endParaRPr lang="zh-TW" altLang="en-US" dirty="0"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altLang="zh-TW" dirty="0"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altLang="zh-TW" dirty="0"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US" altLang="zh-TW" dirty="0">
                        <a:latin typeface="+mn-ea"/>
                        <a:ea typeface="+mn-ea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TW" dirty="0">
                          <a:latin typeface="+mn-ea"/>
                          <a:ea typeface="+mn-ea"/>
                        </a:rPr>
                        <a:t>1</a:t>
                      </a:r>
                      <a:endParaRPr lang="zh-TW" altLang="en-US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437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800EE525-6C00-EE12-2239-0B204626C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60648"/>
            <a:ext cx="8077200" cy="659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以第一組資料作為範例</a:t>
            </a: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增加一筆從頭借到尾的資料</a:t>
            </a:r>
            <a:r>
              <a:rPr lang="en-US" altLang="zh-TW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(0, 10)</a:t>
            </a: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6146" name="投影片編號版面配置區 5">
            <a:extLst>
              <a:ext uri="{FF2B5EF4-FFF2-40B4-BE49-F238E27FC236}">
                <a16:creationId xmlns:a16="http://schemas.microsoft.com/office/drawing/2014/main" id="{32013E47-2F72-3841-6AD5-F546BFF1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7B08AE-DC21-42BD-BDE3-B49E36F9AC30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kumimoji="0" lang="en-US" altLang="zh-TW" sz="140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F954F78-8CE5-70B9-91A8-19CC4D7C8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508914"/>
              </p:ext>
            </p:extLst>
          </p:nvPr>
        </p:nvGraphicFramePr>
        <p:xfrm>
          <a:off x="952543" y="1340768"/>
          <a:ext cx="6624736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269141">
                  <a:extLst>
                    <a:ext uri="{9D8B030D-6E8A-4147-A177-3AD203B41FA5}">
                      <a16:colId xmlns:a16="http://schemas.microsoft.com/office/drawing/2014/main" val="1613866731"/>
                    </a:ext>
                  </a:extLst>
                </a:gridCol>
                <a:gridCol w="765085">
                  <a:extLst>
                    <a:ext uri="{9D8B030D-6E8A-4147-A177-3AD203B41FA5}">
                      <a16:colId xmlns:a16="http://schemas.microsoft.com/office/drawing/2014/main" val="3488166304"/>
                    </a:ext>
                  </a:extLst>
                </a:gridCol>
                <a:gridCol w="765085">
                  <a:extLst>
                    <a:ext uri="{9D8B030D-6E8A-4147-A177-3AD203B41FA5}">
                      <a16:colId xmlns:a16="http://schemas.microsoft.com/office/drawing/2014/main" val="753536479"/>
                    </a:ext>
                  </a:extLst>
                </a:gridCol>
                <a:gridCol w="765085">
                  <a:extLst>
                    <a:ext uri="{9D8B030D-6E8A-4147-A177-3AD203B41FA5}">
                      <a16:colId xmlns:a16="http://schemas.microsoft.com/office/drawing/2014/main" val="3646332704"/>
                    </a:ext>
                  </a:extLst>
                </a:gridCol>
                <a:gridCol w="765085">
                  <a:extLst>
                    <a:ext uri="{9D8B030D-6E8A-4147-A177-3AD203B41FA5}">
                      <a16:colId xmlns:a16="http://schemas.microsoft.com/office/drawing/2014/main" val="110275821"/>
                    </a:ext>
                  </a:extLst>
                </a:gridCol>
                <a:gridCol w="765085">
                  <a:extLst>
                    <a:ext uri="{9D8B030D-6E8A-4147-A177-3AD203B41FA5}">
                      <a16:colId xmlns:a16="http://schemas.microsoft.com/office/drawing/2014/main" val="1067964248"/>
                    </a:ext>
                  </a:extLst>
                </a:gridCol>
                <a:gridCol w="765085">
                  <a:extLst>
                    <a:ext uri="{9D8B030D-6E8A-4147-A177-3AD203B41FA5}">
                      <a16:colId xmlns:a16="http://schemas.microsoft.com/office/drawing/2014/main" val="2535186422"/>
                    </a:ext>
                  </a:extLst>
                </a:gridCol>
                <a:gridCol w="765085">
                  <a:extLst>
                    <a:ext uri="{9D8B030D-6E8A-4147-A177-3AD203B41FA5}">
                      <a16:colId xmlns:a16="http://schemas.microsoft.com/office/drawing/2014/main" val="3343249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532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0706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AD41F2B-74C9-187E-93A1-82D2EB1AB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938179"/>
              </p:ext>
            </p:extLst>
          </p:nvPr>
        </p:nvGraphicFramePr>
        <p:xfrm>
          <a:off x="952543" y="4221088"/>
          <a:ext cx="7272805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249045">
                  <a:extLst>
                    <a:ext uri="{9D8B030D-6E8A-4147-A177-3AD203B41FA5}">
                      <a16:colId xmlns:a16="http://schemas.microsoft.com/office/drawing/2014/main" val="1613866731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488166304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753536479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646332704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110275821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1067964248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2535186422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34324967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2136178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532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07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28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800EE525-6C00-EE12-2239-0B204626C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60648"/>
            <a:ext cx="8077200" cy="659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按照結束時間先後排序，最先結束的排前面</a:t>
            </a: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TW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※</a:t>
            </a: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在這題中，起始時間並不是重點</a:t>
            </a: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以變數</a:t>
            </a:r>
            <a:r>
              <a:rPr lang="en-US" altLang="zh-TW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clock</a:t>
            </a: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來記錄當前時間，初始值為「第一筆資料的結束時間」</a:t>
            </a: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6146" name="投影片編號版面配置區 5">
            <a:extLst>
              <a:ext uri="{FF2B5EF4-FFF2-40B4-BE49-F238E27FC236}">
                <a16:creationId xmlns:a16="http://schemas.microsoft.com/office/drawing/2014/main" id="{32013E47-2F72-3841-6AD5-F546BFF1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7B08AE-DC21-42BD-BDE3-B49E36F9AC30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kumimoji="0" lang="en-US" altLang="zh-TW" sz="140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AD41F2B-74C9-187E-93A1-82D2EB1AB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628896"/>
              </p:ext>
            </p:extLst>
          </p:nvPr>
        </p:nvGraphicFramePr>
        <p:xfrm>
          <a:off x="935596" y="1124744"/>
          <a:ext cx="7272805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249045">
                  <a:extLst>
                    <a:ext uri="{9D8B030D-6E8A-4147-A177-3AD203B41FA5}">
                      <a16:colId xmlns:a16="http://schemas.microsoft.com/office/drawing/2014/main" val="1613866731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488166304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753536479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646332704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110275821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1067964248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2535186422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34324967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2136178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532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07066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AB299C2-AF2C-D59C-1139-8E1A61143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729477"/>
              </p:ext>
            </p:extLst>
          </p:nvPr>
        </p:nvGraphicFramePr>
        <p:xfrm>
          <a:off x="935596" y="4581128"/>
          <a:ext cx="7272805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249045">
                  <a:extLst>
                    <a:ext uri="{9D8B030D-6E8A-4147-A177-3AD203B41FA5}">
                      <a16:colId xmlns:a16="http://schemas.microsoft.com/office/drawing/2014/main" val="1613866731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488166304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753536479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646332704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110275821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1067964248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2535186422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34324967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2136178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532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07066"/>
                  </a:ext>
                </a:extLst>
              </a:tr>
            </a:tbl>
          </a:graphicData>
        </a:graphic>
      </p:graphicFrame>
      <p:sp>
        <p:nvSpPr>
          <p:cNvPr id="7" name="等腰三角形 6">
            <a:extLst>
              <a:ext uri="{FF2B5EF4-FFF2-40B4-BE49-F238E27FC236}">
                <a16:creationId xmlns:a16="http://schemas.microsoft.com/office/drawing/2014/main" id="{20D89A54-ADE9-D887-C134-DF80DA3B4166}"/>
              </a:ext>
            </a:extLst>
          </p:cNvPr>
          <p:cNvSpPr/>
          <p:nvPr/>
        </p:nvSpPr>
        <p:spPr bwMode="auto">
          <a:xfrm>
            <a:off x="1943708" y="5420424"/>
            <a:ext cx="1224136" cy="74168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1" lang="en-US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lock = 2</a:t>
            </a:r>
            <a:endParaRPr kumimoji="1" lang="zh-TW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F0EFBB0-CAFA-F8F0-D1CD-EEB19332FC64}"/>
              </a:ext>
            </a:extLst>
          </p:cNvPr>
          <p:cNvSpPr txBox="1"/>
          <p:nvPr/>
        </p:nvSpPr>
        <p:spPr>
          <a:xfrm>
            <a:off x="179512" y="5911115"/>
            <a:ext cx="2268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count = 1</a:t>
            </a:r>
            <a:endParaRPr lang="zh-TW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228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800EE525-6C00-EE12-2239-0B204626C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60648"/>
            <a:ext cx="8077200" cy="659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接著尋找下一筆起始時間 </a:t>
            </a:r>
            <a:r>
              <a:rPr lang="en-US" altLang="zh-TW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&gt;=</a:t>
            </a: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altLang="zh-TW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clock</a:t>
            </a: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的資料</a:t>
            </a: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並把</a:t>
            </a:r>
            <a:r>
              <a:rPr lang="en-US" altLang="zh-TW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clock</a:t>
            </a: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的值更新為該筆資料的結束時間</a:t>
            </a: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重複這個步驟，直到走訪完全部的資料</a:t>
            </a: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6146" name="投影片編號版面配置區 5">
            <a:extLst>
              <a:ext uri="{FF2B5EF4-FFF2-40B4-BE49-F238E27FC236}">
                <a16:creationId xmlns:a16="http://schemas.microsoft.com/office/drawing/2014/main" id="{32013E47-2F72-3841-6AD5-F546BFF1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7B08AE-DC21-42BD-BDE3-B49E36F9AC30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kumimoji="0" lang="en-US" altLang="zh-TW" sz="140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AD41F2B-74C9-187E-93A1-82D2EB1AB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11441"/>
              </p:ext>
            </p:extLst>
          </p:nvPr>
        </p:nvGraphicFramePr>
        <p:xfrm>
          <a:off x="935596" y="1751216"/>
          <a:ext cx="7272805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249045">
                  <a:extLst>
                    <a:ext uri="{9D8B030D-6E8A-4147-A177-3AD203B41FA5}">
                      <a16:colId xmlns:a16="http://schemas.microsoft.com/office/drawing/2014/main" val="1613866731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488166304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753536479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646332704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110275821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1067964248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2535186422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34324967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2136178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532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07066"/>
                  </a:ext>
                </a:extLst>
              </a:tr>
            </a:tbl>
          </a:graphicData>
        </a:graphic>
      </p:graphicFrame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AB299C2-AF2C-D59C-1139-8E1A61143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092579"/>
              </p:ext>
            </p:extLst>
          </p:nvPr>
        </p:nvGraphicFramePr>
        <p:xfrm>
          <a:off x="935595" y="4960149"/>
          <a:ext cx="7272805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249045">
                  <a:extLst>
                    <a:ext uri="{9D8B030D-6E8A-4147-A177-3AD203B41FA5}">
                      <a16:colId xmlns:a16="http://schemas.microsoft.com/office/drawing/2014/main" val="1613866731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488166304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753536479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646332704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110275821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1067964248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2535186422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34324967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2136178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532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07066"/>
                  </a:ext>
                </a:extLst>
              </a:tr>
            </a:tbl>
          </a:graphicData>
        </a:graphic>
      </p:graphicFrame>
      <p:sp>
        <p:nvSpPr>
          <p:cNvPr id="7" name="等腰三角形 6">
            <a:extLst>
              <a:ext uri="{FF2B5EF4-FFF2-40B4-BE49-F238E27FC236}">
                <a16:creationId xmlns:a16="http://schemas.microsoft.com/office/drawing/2014/main" id="{20D89A54-ADE9-D887-C134-DF80DA3B4166}"/>
              </a:ext>
            </a:extLst>
          </p:cNvPr>
          <p:cNvSpPr/>
          <p:nvPr/>
        </p:nvSpPr>
        <p:spPr bwMode="auto">
          <a:xfrm>
            <a:off x="5004048" y="5909074"/>
            <a:ext cx="1224136" cy="74168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1" lang="en-US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lock = 7</a:t>
            </a:r>
            <a:endParaRPr kumimoji="1" lang="zh-TW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F0EFBB0-CAFA-F8F0-D1CD-EEB19332FC64}"/>
              </a:ext>
            </a:extLst>
          </p:cNvPr>
          <p:cNvSpPr txBox="1"/>
          <p:nvPr/>
        </p:nvSpPr>
        <p:spPr>
          <a:xfrm>
            <a:off x="179512" y="3098741"/>
            <a:ext cx="2268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count = 2</a:t>
            </a:r>
            <a:endParaRPr lang="zh-TW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DB32F589-584D-2DB1-64AE-346FD15804D4}"/>
              </a:ext>
            </a:extLst>
          </p:cNvPr>
          <p:cNvSpPr/>
          <p:nvPr/>
        </p:nvSpPr>
        <p:spPr bwMode="auto">
          <a:xfrm>
            <a:off x="2699792" y="2664838"/>
            <a:ext cx="1224136" cy="74168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1" lang="en-US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lock = 4</a:t>
            </a:r>
            <a:endParaRPr kumimoji="1" lang="zh-TW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B235AF8-5841-BB7D-2885-F8CE015143AA}"/>
              </a:ext>
            </a:extLst>
          </p:cNvPr>
          <p:cNvSpPr txBox="1"/>
          <p:nvPr/>
        </p:nvSpPr>
        <p:spPr>
          <a:xfrm>
            <a:off x="178912" y="6279914"/>
            <a:ext cx="2268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count = 3</a:t>
            </a:r>
            <a:endParaRPr lang="zh-TW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17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800EE525-6C00-EE12-2239-0B204626C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60648"/>
            <a:ext cx="8077200" cy="6597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marL="355600" indent="0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最後輸出</a:t>
            </a:r>
            <a:r>
              <a:rPr lang="en-US" altLang="zh-TW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count</a:t>
            </a:r>
            <a:r>
              <a:rPr lang="zh-TW" altLang="en-US" sz="2400" kern="0" dirty="0">
                <a:latin typeface="Times New Roman" panose="02020603050405020304" pitchFamily="18" charset="0"/>
                <a:sym typeface="Wingdings" panose="05000000000000000000" pitchFamily="2" charset="2"/>
              </a:rPr>
              <a:t>即可</a:t>
            </a:r>
            <a:endParaRPr lang="en-US" altLang="zh-TW" sz="2400" kern="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解法範例：</a:t>
            </a:r>
            <a:r>
              <a:rPr lang="en-US" altLang="zh-TW" sz="2400" dirty="0">
                <a:latin typeface="Times New Roman" panose="02020603050405020304" pitchFamily="18" charset="0"/>
              </a:rPr>
              <a:t> (</a:t>
            </a:r>
            <a:r>
              <a:rPr lang="zh-TW" altLang="en-US" sz="2400" dirty="0">
                <a:latin typeface="Times New Roman" panose="02020603050405020304" pitchFamily="18" charset="0"/>
              </a:rPr>
              <a:t>無</a:t>
            </a:r>
            <a:r>
              <a:rPr lang="en-US" altLang="zh-TW" sz="2400" dirty="0">
                <a:latin typeface="Times New Roman" panose="02020603050405020304" pitchFamily="18" charset="0"/>
              </a:rPr>
              <a:t>)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zh-TW" altLang="en-US" sz="2400" b="1" dirty="0">
                <a:solidFill>
                  <a:srgbClr val="3BA943"/>
                </a:solidFill>
                <a:latin typeface="Times New Roman" panose="02020603050405020304" pitchFamily="18" charset="0"/>
              </a:rPr>
              <a:t>討論：</a:t>
            </a:r>
            <a:r>
              <a:rPr lang="en-US" altLang="zh-TW" sz="2400" dirty="0">
                <a:latin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</a:rPr>
              <a:t>無</a:t>
            </a:r>
            <a:r>
              <a:rPr lang="en-US" altLang="zh-TW" sz="2400" dirty="0">
                <a:latin typeface="Times New Roman" panose="02020603050405020304" pitchFamily="18" charset="0"/>
              </a:rPr>
              <a:t>)</a:t>
            </a:r>
            <a:endParaRPr lang="en-US" altLang="zh-TW" sz="2400" b="1" dirty="0">
              <a:solidFill>
                <a:srgbClr val="3BA9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6" name="投影片編號版面配置區 5">
            <a:extLst>
              <a:ext uri="{FF2B5EF4-FFF2-40B4-BE49-F238E27FC236}">
                <a16:creationId xmlns:a16="http://schemas.microsoft.com/office/drawing/2014/main" id="{32013E47-2F72-3841-6AD5-F546BFF1A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標楷體" panose="03000509000000000000" pitchFamily="65" charset="-12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7B08AE-DC21-42BD-BDE3-B49E36F9AC30}" type="slidenum">
              <a:rPr kumimoji="0" lang="zh-TW" altLang="en-US" sz="1400">
                <a:solidFill>
                  <a:schemeClr val="accent1"/>
                </a:solidFill>
                <a:ea typeface="新細明體" panose="02020500000000000000" pitchFamily="18" charset="-12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TW" sz="1400">
              <a:solidFill>
                <a:schemeClr val="accent1"/>
              </a:solidFill>
              <a:ea typeface="新細明體" panose="02020500000000000000" pitchFamily="18" charset="-12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AD41F2B-74C9-187E-93A1-82D2EB1AB9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458816"/>
              </p:ext>
            </p:extLst>
          </p:nvPr>
        </p:nvGraphicFramePr>
        <p:xfrm>
          <a:off x="935596" y="620688"/>
          <a:ext cx="7272805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249045">
                  <a:extLst>
                    <a:ext uri="{9D8B030D-6E8A-4147-A177-3AD203B41FA5}">
                      <a16:colId xmlns:a16="http://schemas.microsoft.com/office/drawing/2014/main" val="1613866731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488166304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753536479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646332704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110275821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1067964248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2535186422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334324967"/>
                    </a:ext>
                  </a:extLst>
                </a:gridCol>
                <a:gridCol w="752970">
                  <a:extLst>
                    <a:ext uri="{9D8B030D-6E8A-4147-A177-3AD203B41FA5}">
                      <a16:colId xmlns:a16="http://schemas.microsoft.com/office/drawing/2014/main" val="2136178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532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zh-TW" altLang="en-US" b="1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zh-TW" altLang="en-US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07066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2F0EFBB0-CAFA-F8F0-D1CD-EEB19332FC64}"/>
              </a:ext>
            </a:extLst>
          </p:cNvPr>
          <p:cNvSpPr txBox="1"/>
          <p:nvPr/>
        </p:nvSpPr>
        <p:spPr>
          <a:xfrm>
            <a:off x="341530" y="2048202"/>
            <a:ext cx="22682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count = 4</a:t>
            </a:r>
            <a:endParaRPr lang="zh-TW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等腰三角形 3">
            <a:extLst>
              <a:ext uri="{FF2B5EF4-FFF2-40B4-BE49-F238E27FC236}">
                <a16:creationId xmlns:a16="http://schemas.microsoft.com/office/drawing/2014/main" id="{DB32F589-584D-2DB1-64AE-346FD15804D4}"/>
              </a:ext>
            </a:extLst>
          </p:cNvPr>
          <p:cNvSpPr/>
          <p:nvPr/>
        </p:nvSpPr>
        <p:spPr bwMode="auto">
          <a:xfrm>
            <a:off x="6444208" y="1614299"/>
            <a:ext cx="1224136" cy="741680"/>
          </a:xfrm>
          <a:prstGeom prst="triangl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TW" sz="14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kumimoji="1" lang="en-US" altLang="zh-TW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lock = 9</a:t>
            </a:r>
            <a:endParaRPr kumimoji="1" lang="zh-TW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939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標楷體"/>
        <a:cs typeface=""/>
      </a:majorFont>
      <a:minorFont>
        <a:latin typeface="Tahoma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2898</TotalTime>
  <Words>414</Words>
  <Application>Microsoft Office PowerPoint</Application>
  <PresentationFormat>如螢幕大小 (4:3)</PresentationFormat>
  <Paragraphs>225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新細明體</vt:lpstr>
      <vt:lpstr>Arial</vt:lpstr>
      <vt:lpstr>Tahoma</vt:lpstr>
      <vt:lpstr>Times New Roman</vt:lpstr>
      <vt:lpstr>Wingdings</vt:lpstr>
      <vt:lpstr>Blends</vt:lpstr>
      <vt:lpstr>12694: MeetingRoomArrangement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nsysu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 3 Greedy methods</dc:title>
  <dc:creator>cby</dc:creator>
  <cp:lastModifiedBy>B113040045</cp:lastModifiedBy>
  <cp:revision>223</cp:revision>
  <dcterms:created xsi:type="dcterms:W3CDTF">1601-01-01T00:00:00Z</dcterms:created>
  <dcterms:modified xsi:type="dcterms:W3CDTF">2024-05-01T20:08:44Z</dcterms:modified>
</cp:coreProperties>
</file>