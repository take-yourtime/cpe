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9"/>
  </p:notesMasterIdLst>
  <p:sldIdLst>
    <p:sldId id="307" r:id="rId2"/>
    <p:sldId id="309" r:id="rId3"/>
    <p:sldId id="318" r:id="rId4"/>
    <p:sldId id="310" r:id="rId5"/>
    <p:sldId id="316" r:id="rId6"/>
    <p:sldId id="317" r:id="rId7"/>
    <p:sldId id="315" r:id="rId8"/>
  </p:sldIdLst>
  <p:sldSz cx="9144000" cy="6858000" type="screen4x3"/>
  <p:notesSz cx="6832600" cy="99631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943"/>
    <a:srgbClr val="20C428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29" autoAdjust="0"/>
    <p:restoredTop sz="92138" autoAdjust="0"/>
  </p:normalViewPr>
  <p:slideViewPr>
    <p:cSldViewPr>
      <p:cViewPr varScale="1">
        <p:scale>
          <a:sx n="73" d="100"/>
          <a:sy n="73" d="100"/>
        </p:scale>
        <p:origin x="8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7" Type="http://schemas.openxmlformats.org/officeDocument/2006/relationships/slide" Target="slides/slide7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5" Type="http://schemas.openxmlformats.org/officeDocument/2006/relationships/slide" Target="slides/slide5.xml"/><Relationship Id="rId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A2185EE6-E9D7-4D48-D6EA-DBB623B158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BCD0FB6A-E3C1-AE50-E592-539B3C67EB6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CC8FE0E-59E5-FB8C-130A-42F90F6978B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7713"/>
            <a:ext cx="4981575" cy="3735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11A5AABE-E0A2-8578-2989-6A0ABBB6E1C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32338"/>
            <a:ext cx="501015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586C1688-667F-205D-6FF7-FCF2AAD430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675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7F9E8B7C-62AF-73AF-B9F5-097EE337B2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64675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635FA84-C878-41F8-A916-C5DB4E3DB9E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22187BCB-68A8-9081-98EA-52B16E34AB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F97014D-561D-4E7E-87F9-80F3B3B071D8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360C7DDE-1125-2B54-372B-101E03BF98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A05E726-5803-5456-659C-0D54F6206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D224FC-F612-50DD-5CAF-7929E64F6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C0E0E9-46E0-4D80-847D-B13C0745AF9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33E53E-AAE1-D5B6-CCB8-C91CCE069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A73073-459E-B2F2-C541-941671174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D224FC-F612-50DD-5CAF-7929E64F6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C0E0E9-46E0-4D80-847D-B13C0745AF9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33E53E-AAE1-D5B6-CCB8-C91CCE069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A73073-459E-B2F2-C541-941671174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739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D224FC-F612-50DD-5CAF-7929E64F6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C0E0E9-46E0-4D80-847D-B13C0745AF9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33E53E-AAE1-D5B6-CCB8-C91CCE069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A73073-459E-B2F2-C541-941671174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812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D224FC-F612-50DD-5CAF-7929E64F6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C0E0E9-46E0-4D80-847D-B13C0745AF9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33E53E-AAE1-D5B6-CCB8-C91CCE069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A73073-459E-B2F2-C541-941671174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723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D224FC-F612-50DD-5CAF-7929E64F6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C0E0E9-46E0-4D80-847D-B13C0745AF9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33E53E-AAE1-D5B6-CCB8-C91CCE069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A73073-459E-B2F2-C541-941671174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353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D224FC-F612-50DD-5CAF-7929E64F6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C0E0E9-46E0-4D80-847D-B13C0745AF9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33E53E-AAE1-D5B6-CCB8-C91CCE069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A73073-459E-B2F2-C541-941671174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776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E971CA2-883F-A112-CB90-7E2FB756A0AB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C915583A-03BD-37C8-D250-B07935100C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F1ECBC57-31B0-5824-42C9-6C324E8F4D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C8052D29-499E-23A7-398C-219E5AFDDD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904A47DB-B832-2391-A627-B1FF7FCCF5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F291C09-7E80-77ED-5063-C904F3FF6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C7CA3E7-6C25-32EB-2201-7828DAD6C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6619CF01-E9F7-6A03-E01E-BD3DB2489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B27EBCD6-DE28-DD3F-6605-A1F68826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D4720701-5C7F-2DFD-7196-662CB54A3F1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55EF912C-D3B6-5C8A-B732-91B9C5B041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C9820A-0A24-41B8-993B-E854BDA4D660}" type="datetime1">
              <a:rPr lang="zh-TW" altLang="en-US"/>
              <a:pPr>
                <a:defRPr/>
              </a:pPr>
              <a:t>2024/5/23</a:t>
            </a:fld>
            <a:endParaRPr lang="en-US" altLang="zh-TW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D143781A-DD71-DF71-F768-9C68F35EE2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4953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1</a:t>
            </a:r>
            <a:endParaRPr lang="en-US" altLang="zh-TW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EBE28E84-F9DC-E3F6-F05B-B30F489A9D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0914741-ECE0-4C89-8B42-C8E40B9463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9253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C15DDAA-1E14-7815-0B55-D4E1E76496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A44A8-1528-4137-B8C6-9653F40D4225}" type="datetime1">
              <a:rPr lang="zh-TW" altLang="en-US"/>
              <a:pPr>
                <a:defRPr/>
              </a:pPr>
              <a:t>2024/5/23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0F355AD-70C8-5B69-DCAC-AE222EF6CB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24809D3-F71E-383A-39B6-85C55C10A7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9C05B-3FB5-439C-979D-00BA8FE55A1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81209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18E5392-A572-2E0F-2820-AED631651D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1E3D6-6150-4344-94CB-5C143129A0A9}" type="datetime1">
              <a:rPr lang="zh-TW" altLang="en-US"/>
              <a:pPr>
                <a:defRPr/>
              </a:pPr>
              <a:t>2024/5/23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31728FD-BBD1-D9F0-21EF-B54760F5FC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D524A0A-EFC4-A4E4-851B-1E88C1C6E2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1AC06B-961F-459E-AC59-0C6D945D14D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55842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BAD61B3-141F-B440-F31B-3351B77397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C2D464-1396-40D3-AB58-BFF97E7B9EA1}" type="datetime1">
              <a:rPr lang="zh-TW" altLang="en-US"/>
              <a:pPr>
                <a:defRPr/>
              </a:pPr>
              <a:t>2024/5/23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1AA0C59-E23B-E431-D9CA-7A4263CA01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E71B6FA-4043-1056-AF21-609C2B159C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C96D74-7EAD-4AAC-B15C-36162078078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4730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FDC9730-CB25-CB64-30AE-AEAA3F054B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D7E61-85CC-491D-9CA9-D1BD7253AF1B}" type="datetime1">
              <a:rPr lang="zh-TW" altLang="en-US"/>
              <a:pPr>
                <a:defRPr/>
              </a:pPr>
              <a:t>2024/5/23</a:t>
            </a:fld>
            <a:endParaRPr lang="en-US" altLang="zh-TW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B24D004-9948-2DB6-CCE9-940AA5E85C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C8671795-0F41-122A-2A49-D060C1C5A1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264D3-C1DD-49D4-9033-7BBE82607A0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04062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28C00437-5562-CCA0-BAF6-B22C72A88F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CAD06-DCFB-4821-8748-C02020485EE1}" type="datetime1">
              <a:rPr lang="zh-TW" altLang="en-US"/>
              <a:pPr>
                <a:defRPr/>
              </a:pPr>
              <a:t>2024/5/23</a:t>
            </a:fld>
            <a:endParaRPr lang="en-US" altLang="zh-TW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7626609-9F47-81C5-30FA-E00D48E619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3785A83-8EEC-13A2-20CD-17E886017E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0596C-8F43-481F-A021-83F7A1785AA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744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4AF2836-4B33-30EE-10E3-0C4B6EBC82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80385B-0CEA-4A28-A14F-3912ACE1B6BF}" type="datetime1">
              <a:rPr lang="zh-TW" altLang="en-US"/>
              <a:pPr>
                <a:defRPr/>
              </a:pPr>
              <a:t>2024/5/23</a:t>
            </a:fld>
            <a:endParaRPr lang="en-US" altLang="zh-TW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F611C4E6-EACA-1EAB-3C94-614DEE3495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77CC5EF-F6E5-1BAE-D2AF-38DF8B1B7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F4832-0BD9-4381-9D3F-87EC218CF2A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619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E59DD7C-0A53-5265-5284-0A31D5A306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8A0BD-276C-4A28-87B9-D2CE78248947}" type="datetime1">
              <a:rPr lang="zh-TW" altLang="en-US"/>
              <a:pPr>
                <a:defRPr/>
              </a:pPr>
              <a:t>2024/5/23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DF62CD1-D192-5D39-A854-343CC3714F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8FCFDD0-417F-4E29-42DA-C7CA4CAE83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3941B-AF75-490B-9958-A29D437DAAC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307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219A719-5FB6-177C-8C30-80565958AF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A69659-C65C-4931-BEB7-8D90F6E1266E}" type="datetime1">
              <a:rPr lang="zh-TW" altLang="en-US"/>
              <a:pPr>
                <a:defRPr/>
              </a:pPr>
              <a:t>2024/5/23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100292E-BC1D-941D-50D9-7CDB1DA3E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1A44D8F-7152-C3D4-4FB1-59771C6DB3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B3BCF0-A98D-41B7-AB6C-9B07F0AD6B9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03094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BB576B8-D18D-8C2E-78FB-8460873DD5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EECD22-A6BD-479C-AF51-E41C1313E921}" type="datetime1">
              <a:rPr lang="zh-TW" altLang="en-US"/>
              <a:pPr>
                <a:defRPr/>
              </a:pPr>
              <a:t>2024/5/23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57ABB40-2FBE-4186-15CD-2C6E88B77F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54829A3-726B-9DA2-26A6-B9CFF37C1C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312FBE-6C51-44F0-87C5-867709CEC7E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9510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07175" y="381000"/>
            <a:ext cx="1947863" cy="5791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692775" cy="5791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5FBE34C-8647-E945-0D68-D87B07C154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A4381-B913-4CD7-973A-16A88126E598}" type="datetime1">
              <a:rPr lang="zh-TW" altLang="en-US"/>
              <a:pPr>
                <a:defRPr/>
              </a:pPr>
              <a:t>2024/5/23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042EFF0-07CB-37D3-335D-11102E9843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372C818-43AC-1172-9D3E-1922478323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BCF75-8A39-497D-A69E-69837E8487F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1803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>
            <a:extLst>
              <a:ext uri="{FF2B5EF4-FFF2-40B4-BE49-F238E27FC236}">
                <a16:creationId xmlns:a16="http://schemas.microsoft.com/office/drawing/2014/main" id="{AB224AF2-900E-DAE7-5229-F54F374E5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10">
            <a:extLst>
              <a:ext uri="{FF2B5EF4-FFF2-40B4-BE49-F238E27FC236}">
                <a16:creationId xmlns:a16="http://schemas.microsoft.com/office/drawing/2014/main" id="{973285CD-CD98-783F-5D52-25BCA935DB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4C9C58B1-7D9E-D94F-5CEA-B3959657C55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7D1EFED7-5D03-4B34-A513-22D6F6BA99B2}" type="datetime1">
              <a:rPr lang="zh-TW" altLang="en-US"/>
              <a:pPr>
                <a:defRPr/>
              </a:pPr>
              <a:t>2024/5/23</a:t>
            </a:fld>
            <a:endParaRPr lang="en-US" altLang="zh-TW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C92D641B-0140-29FC-FDEC-8D6558C79B3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95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C88A326E-4756-FAE0-E516-336C3A03498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E1EAD72E-644E-4613-A82C-69D2DF35E96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6BA2109-D61C-A577-6A4A-74188110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CCAFEB-7870-48B5-B91B-435BFB81D4CD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5D83B340-AE81-2DF9-D3E0-876375630C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3508" y="332656"/>
            <a:ext cx="8856984" cy="914400"/>
          </a:xfrm>
        </p:spPr>
        <p:txBody>
          <a:bodyPr/>
          <a:lstStyle/>
          <a:p>
            <a:pPr eaLnBrk="1" hangingPunct="1"/>
            <a:r>
              <a:rPr lang="en-US" altLang="zh-TW" b="1" dirty="0">
                <a:latin typeface="Times New Roman" panose="02020603050405020304" pitchFamily="18" charset="0"/>
              </a:rPr>
              <a:t>10482: </a:t>
            </a:r>
            <a:r>
              <a:rPr lang="en-US" altLang="zh-TW" b="1" dirty="0" err="1">
                <a:latin typeface="Times New Roman" panose="02020603050405020304" pitchFamily="18" charset="0"/>
              </a:rPr>
              <a:t>TheCandymanCan</a:t>
            </a:r>
            <a:endParaRPr lang="en-US" altLang="zh-TW" dirty="0"/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5F6B6A0F-72CA-095E-2667-CAED77712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077200" cy="4789488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★★★☆☆</a:t>
            </a:r>
          </a:p>
          <a:p>
            <a:pPr eaLnBrk="1" hangingPunct="1"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題組：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Problem Set Archive with Online Judge</a:t>
            </a:r>
          </a:p>
          <a:p>
            <a:pPr eaLnBrk="1" hangingPunct="1"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題號：</a:t>
            </a:r>
            <a:r>
              <a:rPr lang="en-US" altLang="zh-TW" sz="2400" dirty="0">
                <a:latin typeface="Times New Roman" panose="02020603050405020304" pitchFamily="18" charset="0"/>
              </a:rPr>
              <a:t>10482: </a:t>
            </a:r>
            <a:r>
              <a:rPr lang="en-US" altLang="zh-TW" sz="2400" dirty="0" err="1">
                <a:latin typeface="Times New Roman" panose="02020603050405020304" pitchFamily="18" charset="0"/>
              </a:rPr>
              <a:t>TheCandymanCan</a:t>
            </a: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解題者：</a:t>
            </a:r>
            <a:r>
              <a:rPr lang="zh-TW" altLang="en-US" sz="2400" dirty="0">
                <a:latin typeface="Times New Roman" panose="02020603050405020304" pitchFamily="18" charset="0"/>
              </a:rPr>
              <a:t>許育菖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解題日期：</a:t>
            </a:r>
            <a:r>
              <a:rPr lang="zh-TW" altLang="en-US" sz="2400" dirty="0">
                <a:latin typeface="Times New Roman" panose="02020603050405020304" pitchFamily="18" charset="0"/>
              </a:rPr>
              <a:t>20</a:t>
            </a:r>
            <a:r>
              <a:rPr lang="en-US" altLang="zh-TW" sz="2400" dirty="0">
                <a:latin typeface="Times New Roman" panose="02020603050405020304" pitchFamily="18" charset="0"/>
              </a:rPr>
              <a:t>24</a:t>
            </a:r>
            <a:r>
              <a:rPr lang="zh-TW" altLang="en-US" sz="2400" dirty="0">
                <a:latin typeface="Times New Roman" panose="02020603050405020304" pitchFamily="18" charset="0"/>
              </a:rPr>
              <a:t>年</a:t>
            </a:r>
            <a:r>
              <a:rPr lang="en-US" altLang="zh-TW" sz="2400" dirty="0">
                <a:latin typeface="Times New Roman" panose="02020603050405020304" pitchFamily="18" charset="0"/>
              </a:rPr>
              <a:t>5</a:t>
            </a:r>
            <a:r>
              <a:rPr lang="zh-TW" altLang="en-US" sz="2400" dirty="0">
                <a:latin typeface="Times New Roman" panose="02020603050405020304" pitchFamily="18" charset="0"/>
              </a:rPr>
              <a:t>月</a:t>
            </a:r>
            <a:r>
              <a:rPr lang="en-US" altLang="zh-TW" sz="2400" dirty="0">
                <a:latin typeface="Times New Roman" panose="02020603050405020304" pitchFamily="18" charset="0"/>
              </a:rPr>
              <a:t>23</a:t>
            </a:r>
            <a:r>
              <a:rPr lang="zh-TW" altLang="en-US" sz="2400" dirty="0">
                <a:latin typeface="Times New Roman" panose="02020603050405020304" pitchFamily="18" charset="0"/>
              </a:rPr>
              <a:t>日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400050" lvl="1" indent="0" eaLnBrk="1" hangingPunct="1"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</a:rPr>
              <a:t>把許多不同重量的糖果分給三個小朋友。請問，當以</a:t>
            </a:r>
            <a:r>
              <a:rPr lang="zh-TW" altLang="en-US" sz="2400" b="1" dirty="0">
                <a:latin typeface="Times New Roman" panose="02020603050405020304" pitchFamily="18" charset="0"/>
              </a:rPr>
              <a:t>最公平</a:t>
            </a:r>
            <a:r>
              <a:rPr lang="zh-TW" altLang="en-US" sz="2400" dirty="0">
                <a:latin typeface="Times New Roman" panose="02020603050405020304" pitchFamily="18" charset="0"/>
              </a:rPr>
              <a:t>的方式將糖果平均分配給小朋友時，兩兩小朋友間的</a:t>
            </a:r>
            <a:r>
              <a:rPr lang="zh-TW" altLang="en-US" sz="2400" b="1" dirty="0">
                <a:latin typeface="Times New Roman" panose="02020603050405020304" pitchFamily="18" charset="0"/>
              </a:rPr>
              <a:t>糖果重量差距</a:t>
            </a:r>
            <a:r>
              <a:rPr lang="zh-TW" altLang="en-US" sz="2400" dirty="0">
                <a:latin typeface="Times New Roman" panose="02020603050405020304" pitchFamily="18" charset="0"/>
              </a:rPr>
              <a:t>最大是多少？</a:t>
            </a:r>
            <a:endParaRPr lang="en-US" altLang="zh-TW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編號版面配置區 5">
            <a:extLst>
              <a:ext uri="{FF2B5EF4-FFF2-40B4-BE49-F238E27FC236}">
                <a16:creationId xmlns:a16="http://schemas.microsoft.com/office/drawing/2014/main" id="{32013E47-2F72-3841-6AD5-F546BFF1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7B08AE-DC21-42BD-BDE3-B49E36F9AC30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7B2FB01-CFBC-00E6-7AD6-182B4614DD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260648"/>
            <a:ext cx="8077200" cy="6597352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endParaRPr lang="en-US" altLang="zh-TW" sz="20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zh-TW" altLang="en-US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en-US" altLang="zh-TW" sz="2400" b="1" dirty="0">
                <a:solidFill>
                  <a:schemeClr val="accent4"/>
                </a:solidFill>
                <a:latin typeface="Times New Roman" panose="02020603050405020304" pitchFamily="18" charset="0"/>
              </a:rPr>
              <a:t>【</a:t>
            </a:r>
            <a:r>
              <a:rPr lang="zh-TW" altLang="en-US" sz="2400" b="1" dirty="0">
                <a:solidFill>
                  <a:schemeClr val="accent4"/>
                </a:solidFill>
                <a:latin typeface="Times New Roman" panose="02020603050405020304" pitchFamily="18" charset="0"/>
              </a:rPr>
              <a:t>動態規劃</a:t>
            </a:r>
            <a:r>
              <a:rPr lang="en-US" altLang="zh-TW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】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DE6D2C8-2E95-1BF0-5B8A-6A1DC8979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65444"/>
              </p:ext>
            </p:extLst>
          </p:nvPr>
        </p:nvGraphicFramePr>
        <p:xfrm>
          <a:off x="107504" y="834121"/>
          <a:ext cx="8928992" cy="4028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3790071666"/>
                    </a:ext>
                  </a:extLst>
                </a:gridCol>
                <a:gridCol w="2670871">
                  <a:extLst>
                    <a:ext uri="{9D8B030D-6E8A-4147-A177-3AD203B41FA5}">
                      <a16:colId xmlns:a16="http://schemas.microsoft.com/office/drawing/2014/main" val="3651765724"/>
                    </a:ext>
                  </a:extLst>
                </a:gridCol>
                <a:gridCol w="2870458">
                  <a:extLst>
                    <a:ext uri="{9D8B030D-6E8A-4147-A177-3AD203B41FA5}">
                      <a16:colId xmlns:a16="http://schemas.microsoft.com/office/drawing/2014/main" val="876546872"/>
                    </a:ext>
                  </a:extLst>
                </a:gridCol>
                <a:gridCol w="2019511">
                  <a:extLst>
                    <a:ext uri="{9D8B030D-6E8A-4147-A177-3AD203B41FA5}">
                      <a16:colId xmlns:a16="http://schemas.microsoft.com/office/drawing/2014/main" val="1080398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糖果數量</a:t>
                      </a:r>
                      <a:r>
                        <a:rPr lang="en-US" altLang="zh-TW" dirty="0"/>
                        <a:t>n</a:t>
                      </a:r>
                      <a:endParaRPr lang="zh-TW" altLang="en-US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每顆糖果重量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分配結果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最大差距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05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2 2 2</a:t>
                      </a:r>
                      <a:endParaRPr lang="zh-TW" altLang="en-US" b="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</a:p>
                    <a:p>
                      <a:pPr algn="ctr"/>
                      <a:r>
                        <a:rPr lang="en-US" altLang="zh-TW" b="1" dirty="0"/>
                        <a:t>2</a:t>
                      </a:r>
                    </a:p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0</a:t>
                      </a:r>
                      <a:endParaRPr lang="zh-TW" altLang="en-US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83324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3 4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4</a:t>
                      </a:r>
                    </a:p>
                    <a:p>
                      <a:pPr algn="ctr"/>
                      <a:r>
                        <a:rPr lang="en-US" altLang="zh-TW" b="1" dirty="0"/>
                        <a:t>3 </a:t>
                      </a:r>
                    </a:p>
                    <a:p>
                      <a:pPr algn="ctr"/>
                      <a:r>
                        <a:rPr lang="en-US" altLang="zh-TW" b="1" dirty="0"/>
                        <a:t>0</a:t>
                      </a:r>
                      <a:endParaRPr lang="zh-TW" altLang="en-US" b="1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99368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13 9 7 7 1 7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9 + 7 = </a:t>
                      </a:r>
                      <a:r>
                        <a:rPr lang="en-US" altLang="zh-TW" b="1" dirty="0"/>
                        <a:t>16</a:t>
                      </a:r>
                    </a:p>
                    <a:p>
                      <a:pPr algn="ctr"/>
                      <a:r>
                        <a:rPr lang="en-US" altLang="zh-TW" b="0" dirty="0"/>
                        <a:t>7 + 7 = </a:t>
                      </a:r>
                      <a:r>
                        <a:rPr lang="en-US" altLang="zh-TW" b="1" dirty="0"/>
                        <a:t>14</a:t>
                      </a:r>
                    </a:p>
                    <a:p>
                      <a:pPr algn="ctr"/>
                      <a:r>
                        <a:rPr lang="en-US" altLang="zh-TW" b="0" dirty="0"/>
                        <a:t>13 + 1 = </a:t>
                      </a:r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9338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3 3 3 3 3 3 3 5 5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 + 5 = </a:t>
                      </a:r>
                      <a:r>
                        <a:rPr lang="en-US" altLang="zh-TW" b="1" dirty="0"/>
                        <a:t>10</a:t>
                      </a:r>
                    </a:p>
                    <a:p>
                      <a:pPr algn="ctr"/>
                      <a:r>
                        <a:rPr lang="en-US" altLang="zh-TW" b="0" dirty="0"/>
                        <a:t>3 + 3 + 3 = </a:t>
                      </a:r>
                      <a:r>
                        <a:rPr lang="en-US" altLang="zh-TW" b="1" dirty="0"/>
                        <a:t>9</a:t>
                      </a:r>
                    </a:p>
                    <a:p>
                      <a:pPr algn="ctr"/>
                      <a:r>
                        <a:rPr lang="en-US" altLang="zh-TW" b="0" dirty="0"/>
                        <a:t>3 + 3 + 3 = </a:t>
                      </a:r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29344161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3A55AF2-FACF-7BE5-6B88-CCA7109CD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443858"/>
              </p:ext>
            </p:extLst>
          </p:nvPr>
        </p:nvGraphicFramePr>
        <p:xfrm>
          <a:off x="4323048" y="5242381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5 5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3 3 3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3 3 3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C6AC0F1-533B-DB47-F0D1-6A5BED2559BB}"/>
              </a:ext>
            </a:extLst>
          </p:cNvPr>
          <p:cNvSpPr txBox="1"/>
          <p:nvPr/>
        </p:nvSpPr>
        <p:spPr>
          <a:xfrm>
            <a:off x="1115616" y="5251882"/>
            <a:ext cx="25922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0" dirty="0">
                <a:latin typeface="+mn-lt"/>
              </a:rPr>
              <a:t>3 3 3 3 3 3 3 5 5</a:t>
            </a:r>
            <a:endParaRPr lang="zh-TW" altLang="en-US" sz="2000" b="0" dirty="0">
              <a:latin typeface="+mn-lt"/>
            </a:endParaRP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828C4E25-B5DD-B1E4-FEDC-84A2C3362337}"/>
              </a:ext>
            </a:extLst>
          </p:cNvPr>
          <p:cNvSpPr/>
          <p:nvPr/>
        </p:nvSpPr>
        <p:spPr bwMode="auto">
          <a:xfrm>
            <a:off x="3419872" y="5359227"/>
            <a:ext cx="713928" cy="18542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30150D8-A847-B865-AF6B-AA8C2E6BA0E5}"/>
              </a:ext>
            </a:extLst>
          </p:cNvPr>
          <p:cNvSpPr txBox="1"/>
          <p:nvPr/>
        </p:nvSpPr>
        <p:spPr>
          <a:xfrm>
            <a:off x="3092760" y="4946749"/>
            <a:ext cx="1368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000" dirty="0">
                <a:latin typeface="+mn-ea"/>
                <a:ea typeface="+mn-ea"/>
              </a:rPr>
              <a:t>平均分配</a:t>
            </a:r>
            <a:endParaRPr lang="zh-TW" altLang="en-US" sz="2000" b="0" dirty="0">
              <a:latin typeface="+mn-ea"/>
              <a:ea typeface="+mn-ea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ECCD830-705A-9264-3645-9B445274D7A6}"/>
              </a:ext>
            </a:extLst>
          </p:cNvPr>
          <p:cNvSpPr txBox="1"/>
          <p:nvPr/>
        </p:nvSpPr>
        <p:spPr>
          <a:xfrm>
            <a:off x="6719967" y="5772972"/>
            <a:ext cx="2304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000" dirty="0">
                <a:latin typeface="+mn-ea"/>
                <a:ea typeface="+mn-ea"/>
              </a:rPr>
              <a:t>最大糖果差 </a:t>
            </a:r>
            <a:r>
              <a:rPr lang="en-US" altLang="zh-TW" sz="2000" dirty="0">
                <a:latin typeface="+mn-ea"/>
                <a:ea typeface="+mn-ea"/>
              </a:rPr>
              <a:t>= 1</a:t>
            </a:r>
            <a:endParaRPr lang="zh-TW" altLang="en-US" sz="2000" b="0" dirty="0">
              <a:latin typeface="+mn-ea"/>
              <a:ea typeface="+mn-ea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8FA0B023-45B4-E141-0026-7E4261E64287}"/>
              </a:ext>
            </a:extLst>
          </p:cNvPr>
          <p:cNvSpPr/>
          <p:nvPr/>
        </p:nvSpPr>
        <p:spPr bwMode="auto">
          <a:xfrm>
            <a:off x="6067872" y="5880317"/>
            <a:ext cx="713928" cy="18542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投影片編號版面配置區 5">
            <a:extLst>
              <a:ext uri="{FF2B5EF4-FFF2-40B4-BE49-F238E27FC236}">
                <a16:creationId xmlns:a16="http://schemas.microsoft.com/office/drawing/2014/main" id="{C0556B21-1D7C-8054-71CF-C9286870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7B08AE-DC21-42BD-BDE3-B49E36F9AC30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AE6E2BF-B47C-06FA-DFF3-E183A6AF963F}"/>
              </a:ext>
            </a:extLst>
          </p:cNvPr>
          <p:cNvSpPr txBox="1"/>
          <p:nvPr/>
        </p:nvSpPr>
        <p:spPr>
          <a:xfrm>
            <a:off x="457200" y="171168"/>
            <a:ext cx="821925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首先把三個小朋友視為一個主角</a:t>
            </a:r>
            <a:r>
              <a:rPr lang="en-US" altLang="zh-TW" dirty="0">
                <a:latin typeface="+mn-ea"/>
                <a:ea typeface="+mn-ea"/>
              </a:rPr>
              <a:t>(A)</a:t>
            </a:r>
            <a:r>
              <a:rPr lang="zh-TW" altLang="en-US" dirty="0">
                <a:latin typeface="+mn-ea"/>
                <a:ea typeface="+mn-ea"/>
              </a:rPr>
              <a:t>和兩個配角</a:t>
            </a:r>
            <a:r>
              <a:rPr lang="en-US" altLang="zh-TW" dirty="0">
                <a:latin typeface="+mn-ea"/>
                <a:ea typeface="+mn-ea"/>
              </a:rPr>
              <a:t>(B,C)</a:t>
            </a:r>
            <a:endParaRPr lang="en-US" altLang="zh-TW" dirty="0">
              <a:latin typeface="+mn-lt"/>
              <a:ea typeface="+mn-ea"/>
            </a:endParaRPr>
          </a:p>
          <a:p>
            <a:endParaRPr lang="en-US" altLang="zh-TW" dirty="0">
              <a:latin typeface="+mn-ea"/>
              <a:ea typeface="+mn-ea"/>
            </a:endParaRPr>
          </a:p>
          <a:p>
            <a:r>
              <a:rPr lang="zh-TW" altLang="en-US" dirty="0">
                <a:latin typeface="+mn-ea"/>
                <a:ea typeface="+mn-ea"/>
              </a:rPr>
              <a:t>宣告一個三維</a:t>
            </a:r>
            <a:r>
              <a:rPr lang="en-US" altLang="zh-TW" dirty="0" err="1">
                <a:latin typeface="+mn-ea"/>
                <a:ea typeface="+mn-ea"/>
              </a:rPr>
              <a:t>dp</a:t>
            </a:r>
            <a:r>
              <a:rPr lang="en-US" altLang="zh-TW" dirty="0">
                <a:latin typeface="+mn-ea"/>
                <a:ea typeface="+mn-ea"/>
              </a:rPr>
              <a:t>	</a:t>
            </a:r>
            <a:r>
              <a:rPr lang="en-US" altLang="zh-TW" sz="2000" b="1" dirty="0" err="1">
                <a:latin typeface="Consolas" panose="020B0609020204030204" pitchFamily="49" charset="0"/>
                <a:ea typeface="+mn-ea"/>
              </a:rPr>
              <a:t>dp</a:t>
            </a:r>
            <a:r>
              <a:rPr lang="en-US" altLang="zh-TW" sz="2000" b="1" dirty="0">
                <a:latin typeface="Consolas" panose="020B0609020204030204" pitchFamily="49" charset="0"/>
                <a:ea typeface="+mn-ea"/>
              </a:rPr>
              <a:t>[index][d1][d2]</a:t>
            </a:r>
          </a:p>
          <a:p>
            <a:pPr lvl="1"/>
            <a:r>
              <a:rPr lang="en-US" altLang="zh-TW" sz="2000" dirty="0">
                <a:latin typeface="Consolas" panose="020B0609020204030204" pitchFamily="49" charset="0"/>
                <a:ea typeface="+mn-ea"/>
              </a:rPr>
              <a:t>index</a:t>
            </a:r>
            <a:r>
              <a:rPr lang="en-US" altLang="zh-TW" sz="2000" dirty="0">
                <a:latin typeface="+mn-ea"/>
                <a:ea typeface="+mn-ea"/>
              </a:rPr>
              <a:t> =</a:t>
            </a:r>
            <a:r>
              <a:rPr lang="zh-TW" altLang="en-US" sz="2000" dirty="0">
                <a:latin typeface="+mn-ea"/>
                <a:ea typeface="+mn-ea"/>
              </a:rPr>
              <a:t> 目前分配了幾顆糖果</a:t>
            </a:r>
            <a:r>
              <a:rPr lang="en-US" altLang="zh-TW" sz="2000" dirty="0">
                <a:latin typeface="+mn-ea"/>
                <a:ea typeface="+mn-ea"/>
              </a:rPr>
              <a:t> </a:t>
            </a:r>
          </a:p>
          <a:p>
            <a:pPr lvl="1"/>
            <a:r>
              <a:rPr lang="en-US" altLang="zh-TW" sz="2000" dirty="0">
                <a:latin typeface="Consolas" panose="020B0609020204030204" pitchFamily="49" charset="0"/>
                <a:ea typeface="+mn-ea"/>
              </a:rPr>
              <a:t>d1</a:t>
            </a:r>
            <a:r>
              <a:rPr lang="en-US" altLang="zh-TW" sz="2000" i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(difference 1) </a:t>
            </a:r>
            <a:r>
              <a:rPr lang="en-US" altLang="zh-TW" sz="2000" dirty="0">
                <a:latin typeface="+mn-lt"/>
                <a:ea typeface="+mn-ea"/>
              </a:rPr>
              <a:t>=</a:t>
            </a:r>
            <a:r>
              <a:rPr lang="zh-TW" altLang="en-US" sz="2000" dirty="0">
                <a:latin typeface="+mn-lt"/>
                <a:ea typeface="+mn-ea"/>
              </a:rPr>
              <a:t> </a:t>
            </a:r>
            <a:r>
              <a:rPr lang="en-US" altLang="zh-TW" sz="2000" dirty="0">
                <a:latin typeface="+mn-lt"/>
                <a:ea typeface="+mn-ea"/>
              </a:rPr>
              <a:t> A</a:t>
            </a:r>
            <a:r>
              <a:rPr lang="zh-TW" altLang="en-US" sz="2000" dirty="0">
                <a:latin typeface="+mn-lt"/>
                <a:ea typeface="+mn-ea"/>
              </a:rPr>
              <a:t>的糖果</a:t>
            </a:r>
            <a:r>
              <a:rPr lang="en-US" altLang="zh-TW" sz="2000" dirty="0">
                <a:latin typeface="+mn-lt"/>
                <a:ea typeface="+mn-ea"/>
              </a:rPr>
              <a:t> – B</a:t>
            </a:r>
            <a:r>
              <a:rPr lang="zh-TW" altLang="en-US" sz="2000" dirty="0">
                <a:latin typeface="+mn-lt"/>
                <a:ea typeface="+mn-ea"/>
              </a:rPr>
              <a:t>的糖果</a:t>
            </a:r>
            <a:endParaRPr lang="en-US" altLang="zh-TW" sz="2000" dirty="0">
              <a:latin typeface="+mn-lt"/>
              <a:ea typeface="+mn-ea"/>
            </a:endParaRPr>
          </a:p>
          <a:p>
            <a:pPr lvl="1"/>
            <a:r>
              <a:rPr lang="en-US" altLang="zh-TW" sz="2000" dirty="0">
                <a:latin typeface="Consolas" panose="020B0609020204030204" pitchFamily="49" charset="0"/>
                <a:ea typeface="+mn-ea"/>
              </a:rPr>
              <a:t>d2</a:t>
            </a:r>
            <a:r>
              <a:rPr lang="en-US" altLang="zh-TW" sz="2000" i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(difference 2)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 </a:t>
            </a:r>
            <a:r>
              <a:rPr lang="en-US" altLang="zh-TW" sz="2000" dirty="0">
                <a:latin typeface="+mn-lt"/>
                <a:ea typeface="+mn-ea"/>
              </a:rPr>
              <a:t>= </a:t>
            </a:r>
            <a:r>
              <a:rPr lang="zh-TW" altLang="en-US" sz="2000" dirty="0">
                <a:latin typeface="+mn-lt"/>
                <a:ea typeface="+mn-ea"/>
              </a:rPr>
              <a:t> </a:t>
            </a:r>
            <a:r>
              <a:rPr lang="en-US" altLang="zh-TW" sz="2000" dirty="0">
                <a:latin typeface="+mn-lt"/>
                <a:ea typeface="+mn-ea"/>
              </a:rPr>
              <a:t>A</a:t>
            </a:r>
            <a:r>
              <a:rPr lang="zh-TW" altLang="en-US" sz="2000" dirty="0">
                <a:latin typeface="+mn-lt"/>
                <a:ea typeface="+mn-ea"/>
              </a:rPr>
              <a:t>的糖果</a:t>
            </a:r>
            <a:r>
              <a:rPr lang="en-US" altLang="zh-TW" sz="2000" dirty="0">
                <a:latin typeface="+mn-lt"/>
                <a:ea typeface="+mn-ea"/>
              </a:rPr>
              <a:t> – C</a:t>
            </a:r>
            <a:r>
              <a:rPr lang="zh-TW" altLang="en-US" sz="2000" dirty="0">
                <a:latin typeface="+mn-lt"/>
                <a:ea typeface="+mn-ea"/>
              </a:rPr>
              <a:t>的糖果</a:t>
            </a:r>
            <a:endParaRPr lang="en-US" altLang="zh-TW" sz="2000" dirty="0">
              <a:latin typeface="+mn-lt"/>
              <a:ea typeface="+mn-ea"/>
            </a:endParaRPr>
          </a:p>
          <a:p>
            <a:pPr lvl="1"/>
            <a:endParaRPr lang="en-US" altLang="zh-TW" dirty="0">
              <a:latin typeface="+mn-lt"/>
              <a:ea typeface="+mn-ea"/>
            </a:endParaRPr>
          </a:p>
          <a:p>
            <a:r>
              <a:rPr lang="zh-TW" altLang="en-US" dirty="0">
                <a:latin typeface="+mn-lt"/>
                <a:ea typeface="+mn-ea"/>
              </a:rPr>
              <a:t>接著以這個</a:t>
            </a:r>
            <a:r>
              <a:rPr lang="en-US" altLang="zh-TW" dirty="0" err="1">
                <a:latin typeface="+mn-lt"/>
                <a:ea typeface="+mn-ea"/>
              </a:rPr>
              <a:t>dp</a:t>
            </a:r>
            <a:r>
              <a:rPr lang="zh-TW" altLang="en-US" dirty="0">
                <a:latin typeface="+mn-lt"/>
                <a:ea typeface="+mn-ea"/>
              </a:rPr>
              <a:t>來記錄在</a:t>
            </a:r>
            <a:endParaRPr lang="en-US" altLang="zh-TW" dirty="0">
              <a:latin typeface="+mn-lt"/>
              <a:ea typeface="+mn-ea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latin typeface="+mn-lt"/>
                <a:ea typeface="+mn-ea"/>
              </a:rPr>
              <a:t>分配了</a:t>
            </a:r>
            <a:r>
              <a:rPr lang="en-US" altLang="zh-TW" b="1" dirty="0">
                <a:solidFill>
                  <a:srgbClr val="0070C0"/>
                </a:solidFill>
                <a:latin typeface="+mn-lt"/>
                <a:ea typeface="+mn-ea"/>
              </a:rPr>
              <a:t>index</a:t>
            </a:r>
            <a:r>
              <a:rPr lang="zh-TW" altLang="en-US" b="1" dirty="0">
                <a:solidFill>
                  <a:srgbClr val="0070C0"/>
                </a:solidFill>
                <a:latin typeface="+mn-lt"/>
                <a:ea typeface="+mn-ea"/>
              </a:rPr>
              <a:t>顆糖果</a:t>
            </a:r>
            <a:endParaRPr lang="en-US" altLang="zh-TW" b="1" dirty="0">
              <a:solidFill>
                <a:srgbClr val="0070C0"/>
              </a:solidFill>
              <a:latin typeface="+mn-lt"/>
              <a:ea typeface="+mn-ea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latin typeface="+mn-lt"/>
                <a:ea typeface="+mn-ea"/>
              </a:rPr>
              <a:t>主角與兩個配角擁有的</a:t>
            </a:r>
            <a:r>
              <a:rPr lang="zh-TW" altLang="en-US" b="1" dirty="0">
                <a:solidFill>
                  <a:srgbClr val="0070C0"/>
                </a:solidFill>
                <a:latin typeface="+mn-lt"/>
                <a:ea typeface="+mn-ea"/>
              </a:rPr>
              <a:t>糖果差為</a:t>
            </a:r>
            <a:r>
              <a:rPr lang="en-US" altLang="zh-TW" b="1" dirty="0">
                <a:solidFill>
                  <a:srgbClr val="0070C0"/>
                </a:solidFill>
                <a:latin typeface="+mn-lt"/>
                <a:ea typeface="+mn-ea"/>
              </a:rPr>
              <a:t>d1</a:t>
            </a:r>
            <a:r>
              <a:rPr lang="zh-TW" altLang="en-US" b="1" dirty="0">
                <a:solidFill>
                  <a:srgbClr val="0070C0"/>
                </a:solidFill>
                <a:latin typeface="+mn-lt"/>
                <a:ea typeface="+mn-ea"/>
              </a:rPr>
              <a:t>和</a:t>
            </a:r>
            <a:r>
              <a:rPr lang="en-US" altLang="zh-TW" b="1" dirty="0">
                <a:solidFill>
                  <a:srgbClr val="0070C0"/>
                </a:solidFill>
                <a:latin typeface="+mn-lt"/>
                <a:ea typeface="+mn-ea"/>
              </a:rPr>
              <a:t>d2</a:t>
            </a:r>
            <a:r>
              <a:rPr lang="en-US" altLang="zh-TW" b="1" dirty="0">
                <a:latin typeface="+mn-lt"/>
                <a:ea typeface="+mn-ea"/>
              </a:rPr>
              <a:t>	</a:t>
            </a:r>
            <a:r>
              <a:rPr lang="zh-TW" altLang="en-US" dirty="0">
                <a:latin typeface="+mn-lt"/>
                <a:ea typeface="+mn-ea"/>
              </a:rPr>
              <a:t>的情況下</a:t>
            </a:r>
            <a:endParaRPr lang="en-US" altLang="zh-TW" dirty="0">
              <a:latin typeface="+mn-lt"/>
              <a:ea typeface="+mn-ea"/>
            </a:endParaRPr>
          </a:p>
          <a:p>
            <a:pPr lvl="1"/>
            <a:endParaRPr lang="en-US" altLang="zh-TW" dirty="0">
              <a:latin typeface="+mn-lt"/>
              <a:ea typeface="+mn-ea"/>
            </a:endParaRPr>
          </a:p>
          <a:p>
            <a:r>
              <a:rPr lang="zh-TW" altLang="en-US" b="1" dirty="0">
                <a:latin typeface="+mn-lt"/>
                <a:ea typeface="+mn-ea"/>
              </a:rPr>
              <a:t>繼續分配下去直到分配完</a:t>
            </a:r>
            <a:r>
              <a:rPr lang="zh-TW" altLang="en-US" dirty="0">
                <a:latin typeface="+mn-lt"/>
                <a:ea typeface="+mn-ea"/>
              </a:rPr>
              <a:t>所有糖果後，得到的</a:t>
            </a:r>
            <a:r>
              <a:rPr lang="zh-TW" altLang="en-US" b="1" dirty="0">
                <a:latin typeface="+mn-lt"/>
                <a:ea typeface="+mn-ea"/>
              </a:rPr>
              <a:t>所有最大糖果差的最小值</a:t>
            </a:r>
            <a:r>
              <a:rPr lang="en-US" altLang="zh-TW" i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(smallest d)</a:t>
            </a:r>
            <a:r>
              <a:rPr lang="zh-TW" altLang="en-US" dirty="0">
                <a:latin typeface="+mn-lt"/>
                <a:ea typeface="+mn-ea"/>
              </a:rPr>
              <a:t>。</a:t>
            </a:r>
            <a:endParaRPr lang="en-US" altLang="zh-TW" dirty="0">
              <a:latin typeface="+mn-lt"/>
              <a:ea typeface="+mn-ea"/>
            </a:endParaRPr>
          </a:p>
          <a:p>
            <a:endParaRPr lang="en-US" altLang="zh-TW" dirty="0">
              <a:latin typeface="+mn-lt"/>
              <a:ea typeface="+mn-ea"/>
            </a:endParaRPr>
          </a:p>
          <a:p>
            <a:r>
              <a:rPr lang="zh-TW" altLang="en-US" dirty="0">
                <a:latin typeface="+mn-lt"/>
                <a:ea typeface="+mn-ea"/>
              </a:rPr>
              <a:t>即為在當前條件下，以</a:t>
            </a:r>
            <a:r>
              <a:rPr lang="zh-TW" altLang="en-US" b="1" dirty="0">
                <a:solidFill>
                  <a:srgbClr val="0070C0"/>
                </a:solidFill>
                <a:latin typeface="+mn-lt"/>
                <a:ea typeface="+mn-ea"/>
              </a:rPr>
              <a:t>最公平的方式</a:t>
            </a:r>
            <a:r>
              <a:rPr lang="zh-TW" altLang="en-US" dirty="0">
                <a:latin typeface="+mn-lt"/>
                <a:ea typeface="+mn-ea"/>
              </a:rPr>
              <a:t>分配完後可以得到的最大糖果差。</a:t>
            </a:r>
            <a:endParaRPr lang="en-US" altLang="zh-TW" dirty="0">
              <a:latin typeface="+mn-lt"/>
              <a:ea typeface="+mn-ea"/>
            </a:endParaRPr>
          </a:p>
          <a:p>
            <a:endParaRPr lang="en-US" altLang="zh-TW" dirty="0">
              <a:latin typeface="+mn-lt"/>
              <a:ea typeface="+mn-ea"/>
            </a:endParaRPr>
          </a:p>
          <a:p>
            <a:r>
              <a:rPr lang="zh-TW" altLang="en-US" dirty="0">
                <a:latin typeface="+mn-lt"/>
                <a:ea typeface="+mn-ea"/>
              </a:rPr>
              <a:t>我們把所有的情況的紀錄完後，就可以知道最終答案了。</a:t>
            </a:r>
            <a:endParaRPr lang="en-US" altLang="zh-TW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48006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投影片編號版面配置區 5">
            <a:extLst>
              <a:ext uri="{FF2B5EF4-FFF2-40B4-BE49-F238E27FC236}">
                <a16:creationId xmlns:a16="http://schemas.microsoft.com/office/drawing/2014/main" id="{C0556B21-1D7C-8054-71CF-C9286870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7B08AE-DC21-42BD-BDE3-B49E36F9AC30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AE6E2BF-B47C-06FA-DFF3-E183A6AF963F}"/>
              </a:ext>
            </a:extLst>
          </p:cNvPr>
          <p:cNvSpPr txBox="1"/>
          <p:nvPr/>
        </p:nvSpPr>
        <p:spPr>
          <a:xfrm>
            <a:off x="395536" y="980728"/>
            <a:ext cx="849694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altLang="zh-TW" sz="2000" dirty="0">
              <a:latin typeface="+mn-lt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If index = n, </a:t>
            </a:r>
            <a:r>
              <a:rPr lang="en-US" altLang="zh-TW" sz="2000" dirty="0" err="1"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dp</a:t>
            </a:r>
            <a:r>
              <a:rPr lang="en-US" altLang="zh-TW" sz="2000" dirty="0"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[index][d1][d2] = max(d1, d2)</a:t>
            </a:r>
          </a:p>
          <a:p>
            <a:endParaRPr lang="en-US" altLang="zh-TW" sz="2000" dirty="0">
              <a:latin typeface="Aptos" panose="020B0004020202020204" pitchFamily="34" charset="0"/>
              <a:ea typeface="+mn-ea"/>
              <a:cs typeface="Aparajita" panose="020B05020402040202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If index </a:t>
            </a:r>
            <a:r>
              <a:rPr lang="zh-TW" altLang="en-US" sz="2000" dirty="0"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≠ </a:t>
            </a:r>
            <a:r>
              <a:rPr lang="en-US" altLang="zh-TW" sz="2000" dirty="0"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n, </a:t>
            </a:r>
            <a:r>
              <a:rPr lang="en-US" altLang="zh-TW" sz="2000" dirty="0" err="1"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dp</a:t>
            </a:r>
            <a:r>
              <a:rPr lang="en-US" altLang="zh-TW" sz="2000" dirty="0"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[index][d1][d2] = </a:t>
            </a:r>
          </a:p>
          <a:p>
            <a:r>
              <a:rPr lang="en-US" altLang="zh-TW" sz="2000" dirty="0"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	min(	</a:t>
            </a:r>
            <a:r>
              <a:rPr lang="en-US" altLang="zh-TW" sz="2000" dirty="0" err="1">
                <a:solidFill>
                  <a:srgbClr val="0070C0"/>
                </a:solidFill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dp</a:t>
            </a:r>
            <a:r>
              <a:rPr lang="en-US" altLang="zh-TW" sz="2000" dirty="0">
                <a:solidFill>
                  <a:srgbClr val="0070C0"/>
                </a:solidFill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[index+1][ d1+candy[index+1] ][ d2+candy[index+1] ]</a:t>
            </a:r>
            <a:r>
              <a:rPr lang="en-US" altLang="zh-TW" sz="2000" dirty="0"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,</a:t>
            </a:r>
            <a:r>
              <a:rPr lang="en-US" altLang="zh-TW" sz="2000" dirty="0">
                <a:solidFill>
                  <a:srgbClr val="0070C0"/>
                </a:solidFill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 </a:t>
            </a:r>
          </a:p>
          <a:p>
            <a:r>
              <a:rPr lang="en-US" altLang="zh-TW" sz="2000" dirty="0"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		</a:t>
            </a:r>
            <a:r>
              <a:rPr lang="en-US" altLang="zh-TW" sz="2000" dirty="0" err="1">
                <a:solidFill>
                  <a:srgbClr val="00B050"/>
                </a:solidFill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dp</a:t>
            </a:r>
            <a:r>
              <a:rPr lang="en-US" altLang="zh-TW" sz="2000" dirty="0">
                <a:solidFill>
                  <a:srgbClr val="00B050"/>
                </a:solidFill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[index+1][ d1</a:t>
            </a:r>
            <a:r>
              <a:rPr lang="en-US" altLang="zh-TW" sz="2000" i="1" dirty="0">
                <a:solidFill>
                  <a:srgbClr val="00B050"/>
                </a:solidFill>
                <a:latin typeface="Aptos" panose="020B0004020202020204" pitchFamily="34" charset="0"/>
              </a:rPr>
              <a:t>–</a:t>
            </a:r>
            <a:r>
              <a:rPr lang="en-US" altLang="zh-TW" sz="2000" dirty="0">
                <a:solidFill>
                  <a:srgbClr val="00B050"/>
                </a:solidFill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candy[index+1] ][ </a:t>
            </a:r>
            <a:r>
              <a:rPr lang="en-US" altLang="zh-TW" sz="2000" b="1" dirty="0">
                <a:solidFill>
                  <a:srgbClr val="00B050"/>
                </a:solidFill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d2’</a:t>
            </a:r>
            <a:r>
              <a:rPr lang="en-US" altLang="zh-TW" sz="2000" dirty="0">
                <a:solidFill>
                  <a:srgbClr val="00B050"/>
                </a:solidFill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 ]</a:t>
            </a:r>
            <a:r>
              <a:rPr lang="en-US" altLang="zh-TW" sz="2000" dirty="0"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,</a:t>
            </a:r>
            <a:endParaRPr lang="en-US" altLang="zh-TW" sz="2000" dirty="0">
              <a:solidFill>
                <a:srgbClr val="00B050"/>
              </a:solidFill>
              <a:latin typeface="Aptos" panose="020B0004020202020204" pitchFamily="34" charset="0"/>
              <a:ea typeface="+mn-ea"/>
              <a:cs typeface="Aparajita" panose="020B0502040204020203" pitchFamily="18" charset="0"/>
            </a:endParaRPr>
          </a:p>
          <a:p>
            <a:r>
              <a:rPr lang="en-US" altLang="zh-TW" sz="2000" dirty="0"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		</a:t>
            </a:r>
            <a:r>
              <a:rPr lang="en-US" altLang="zh-TW" sz="2000" dirty="0" err="1">
                <a:solidFill>
                  <a:srgbClr val="FF0000"/>
                </a:solidFill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dp</a:t>
            </a:r>
            <a:r>
              <a:rPr lang="en-US" altLang="zh-TW" sz="2000" dirty="0">
                <a:solidFill>
                  <a:srgbClr val="FF0000"/>
                </a:solidFill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[index+1][ </a:t>
            </a:r>
            <a:r>
              <a:rPr lang="en-US" altLang="zh-TW" sz="2000" b="1" dirty="0">
                <a:solidFill>
                  <a:srgbClr val="FF0000"/>
                </a:solidFill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d1’ </a:t>
            </a:r>
            <a:r>
              <a:rPr lang="en-US" altLang="zh-TW" sz="2000" dirty="0">
                <a:solidFill>
                  <a:srgbClr val="FF0000"/>
                </a:solidFill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][ d2</a:t>
            </a:r>
            <a:r>
              <a:rPr lang="en-US" altLang="zh-TW" sz="2000" i="1" dirty="0">
                <a:latin typeface="Aptos" panose="020B0004020202020204" pitchFamily="34" charset="0"/>
              </a:rPr>
              <a:t> </a:t>
            </a:r>
            <a:r>
              <a:rPr lang="en-US" altLang="zh-TW" sz="2000" i="1" dirty="0">
                <a:solidFill>
                  <a:srgbClr val="FF0000"/>
                </a:solidFill>
                <a:latin typeface="Aptos" panose="020B0004020202020204" pitchFamily="34" charset="0"/>
              </a:rPr>
              <a:t>– </a:t>
            </a:r>
            <a:r>
              <a:rPr lang="en-US" altLang="zh-TW" sz="2000" dirty="0">
                <a:solidFill>
                  <a:srgbClr val="FF0000"/>
                </a:solidFill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candy[index+1] ] 	</a:t>
            </a:r>
            <a:r>
              <a:rPr lang="en-US" altLang="zh-TW" sz="2000" dirty="0">
                <a:latin typeface="Aptos" panose="020B0004020202020204" pitchFamily="34" charset="0"/>
                <a:ea typeface="+mn-ea"/>
                <a:cs typeface="Aparajita" panose="020B0502040204020203" pitchFamily="18" charset="0"/>
              </a:rPr>
              <a:t>)</a:t>
            </a:r>
            <a:endParaRPr lang="en-US" altLang="zh-TW" dirty="0">
              <a:latin typeface="+mn-lt"/>
              <a:ea typeface="+mn-ea"/>
            </a:endParaRPr>
          </a:p>
          <a:p>
            <a:pPr algn="ctr"/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----------</a:t>
            </a:r>
          </a:p>
          <a:p>
            <a:pPr lvl="1"/>
            <a:r>
              <a:rPr lang="en-US" altLang="zh-TW" sz="2000" b="1" dirty="0">
                <a:solidFill>
                  <a:srgbClr val="00B050"/>
                </a:solidFill>
                <a:latin typeface="Aptos" panose="020B0004020202020204" pitchFamily="34" charset="0"/>
                <a:ea typeface="+mn-ea"/>
              </a:rPr>
              <a:t>d2’ </a:t>
            </a:r>
            <a:r>
              <a:rPr lang="en-US" altLang="zh-TW" sz="2000" dirty="0">
                <a:latin typeface="Aptos" panose="020B0004020202020204" pitchFamily="34" charset="0"/>
                <a:ea typeface="+mn-ea"/>
              </a:rPr>
              <a:t>= d2 + (</a:t>
            </a:r>
            <a:r>
              <a:rPr lang="en-US" altLang="zh-TW" sz="2000" dirty="0">
                <a:latin typeface="Aptos" panose="020B0004020202020204" pitchFamily="34" charset="0"/>
              </a:rPr>
              <a:t>candy[index+1] – d1), 	if d1 – candy[index+1] &lt; 0</a:t>
            </a:r>
          </a:p>
          <a:p>
            <a:pPr lvl="1"/>
            <a:r>
              <a:rPr lang="en-US" altLang="zh-TW" sz="2000" b="1" dirty="0">
                <a:solidFill>
                  <a:srgbClr val="00B050"/>
                </a:solidFill>
                <a:latin typeface="Aptos" panose="020B0004020202020204" pitchFamily="34" charset="0"/>
              </a:rPr>
              <a:t>d2’</a:t>
            </a:r>
            <a:r>
              <a:rPr lang="en-US" altLang="zh-TW" sz="2000" dirty="0">
                <a:solidFill>
                  <a:srgbClr val="00B050"/>
                </a:solidFill>
                <a:latin typeface="Aptos" panose="020B0004020202020204" pitchFamily="34" charset="0"/>
              </a:rPr>
              <a:t> </a:t>
            </a:r>
            <a:r>
              <a:rPr lang="en-US" altLang="zh-TW" sz="2000" dirty="0">
                <a:latin typeface="Aptos" panose="020B0004020202020204" pitchFamily="34" charset="0"/>
              </a:rPr>
              <a:t>= d2,				if d1 – candy[index+1] &gt; 0 </a:t>
            </a:r>
          </a:p>
          <a:p>
            <a:pPr lvl="1"/>
            <a:endParaRPr lang="en-US" altLang="zh-TW" sz="2000" dirty="0">
              <a:solidFill>
                <a:srgbClr val="00B050"/>
              </a:solidFill>
              <a:latin typeface="Aptos" panose="020B0004020202020204" pitchFamily="34" charset="0"/>
            </a:endParaRPr>
          </a:p>
          <a:p>
            <a:pPr lvl="1"/>
            <a:r>
              <a:rPr lang="en-US" altLang="zh-TW" sz="2000" b="1" dirty="0">
                <a:solidFill>
                  <a:srgbClr val="FF0000"/>
                </a:solidFill>
                <a:latin typeface="Aptos" panose="020B0004020202020204" pitchFamily="34" charset="0"/>
              </a:rPr>
              <a:t>d1’ </a:t>
            </a:r>
            <a:r>
              <a:rPr lang="en-US" altLang="zh-TW" sz="2000" dirty="0">
                <a:latin typeface="Aptos" panose="020B0004020202020204" pitchFamily="34" charset="0"/>
              </a:rPr>
              <a:t>= d1 + (candy[index+1] – d2), 	if d2 – candy[index+1] &lt; 0</a:t>
            </a:r>
          </a:p>
          <a:p>
            <a:pPr lvl="1"/>
            <a:r>
              <a:rPr lang="en-US" altLang="zh-TW" sz="2000" b="1" dirty="0">
                <a:solidFill>
                  <a:srgbClr val="FF0000"/>
                </a:solidFill>
                <a:latin typeface="Aptos" panose="020B0004020202020204" pitchFamily="34" charset="0"/>
              </a:rPr>
              <a:t>d1’</a:t>
            </a:r>
            <a:r>
              <a:rPr lang="en-US" altLang="zh-TW" sz="2000" dirty="0">
                <a:solidFill>
                  <a:srgbClr val="FF0000"/>
                </a:solidFill>
                <a:latin typeface="Aptos" panose="020B0004020202020204" pitchFamily="34" charset="0"/>
              </a:rPr>
              <a:t> </a:t>
            </a:r>
            <a:r>
              <a:rPr lang="en-US" altLang="zh-TW" sz="2000" dirty="0">
                <a:latin typeface="Aptos" panose="020B0004020202020204" pitchFamily="34" charset="0"/>
              </a:rPr>
              <a:t>= d1,				if d2 – candy[index+1] &gt; 0 </a:t>
            </a:r>
          </a:p>
          <a:p>
            <a:pPr lvl="1"/>
            <a:endParaRPr lang="en-US" altLang="zh-TW" sz="2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lvl="1"/>
            <a:r>
              <a:rPr lang="zh-TW" altLang="en-US" sz="2000" i="1" dirty="0">
                <a:latin typeface="Aptos" panose="020B0004020202020204" pitchFamily="34" charset="0"/>
              </a:rPr>
              <a:t>範圍：</a:t>
            </a:r>
            <a:r>
              <a:rPr lang="en-US" altLang="zh-TW" sz="2000" i="1" dirty="0">
                <a:latin typeface="Aptos" panose="020B0004020202020204" pitchFamily="34" charset="0"/>
              </a:rPr>
              <a:t>0  </a:t>
            </a:r>
            <a:r>
              <a:rPr lang="zh-TW" altLang="en-US" sz="2000" i="1" dirty="0">
                <a:latin typeface="Aptos" panose="020B0004020202020204" pitchFamily="34" charset="0"/>
              </a:rPr>
              <a:t>≦ </a:t>
            </a:r>
            <a:r>
              <a:rPr lang="en-US" altLang="zh-TW" sz="2000" i="1" dirty="0">
                <a:latin typeface="Aptos" panose="020B0004020202020204" pitchFamily="34" charset="0"/>
              </a:rPr>
              <a:t>index </a:t>
            </a:r>
            <a:r>
              <a:rPr lang="zh-TW" altLang="en-US" sz="2000" i="1" dirty="0">
                <a:latin typeface="Aptos" panose="020B0004020202020204" pitchFamily="34" charset="0"/>
              </a:rPr>
              <a:t>≦</a:t>
            </a:r>
            <a:r>
              <a:rPr lang="en-US" altLang="zh-TW" sz="2000" i="1" dirty="0">
                <a:latin typeface="Aptos" panose="020B0004020202020204" pitchFamily="34" charset="0"/>
              </a:rPr>
              <a:t> n</a:t>
            </a:r>
            <a:r>
              <a:rPr lang="zh-TW" altLang="en-US" sz="2000" i="1" dirty="0">
                <a:latin typeface="Aptos" panose="020B0004020202020204" pitchFamily="34" charset="0"/>
              </a:rPr>
              <a:t> </a:t>
            </a:r>
            <a:r>
              <a:rPr lang="en-US" altLang="zh-TW" sz="2000" i="1" dirty="0">
                <a:latin typeface="Aptos" panose="020B0004020202020204" pitchFamily="34" charset="0"/>
              </a:rPr>
              <a:t>0 </a:t>
            </a:r>
            <a:r>
              <a:rPr lang="zh-TW" altLang="en-US" sz="2000" i="1" dirty="0">
                <a:latin typeface="Aptos" panose="020B0004020202020204" pitchFamily="34" charset="0"/>
              </a:rPr>
              <a:t>≦</a:t>
            </a:r>
            <a:r>
              <a:rPr lang="en-US" altLang="zh-TW" sz="2000" i="1" dirty="0">
                <a:latin typeface="Aptos" panose="020B0004020202020204" pitchFamily="34" charset="0"/>
              </a:rPr>
              <a:t> d1, d2 </a:t>
            </a:r>
            <a:r>
              <a:rPr lang="zh-TW" altLang="en-US" sz="2000" i="1" dirty="0">
                <a:latin typeface="Aptos" panose="020B0004020202020204" pitchFamily="34" charset="0"/>
              </a:rPr>
              <a:t>≦</a:t>
            </a:r>
            <a:r>
              <a:rPr lang="en-US" altLang="zh-TW" sz="2000" i="1" dirty="0">
                <a:latin typeface="Aptos" panose="020B0004020202020204" pitchFamily="34" charset="0"/>
              </a:rPr>
              <a:t> 32*n</a:t>
            </a:r>
          </a:p>
        </p:txBody>
      </p:sp>
    </p:spTree>
    <p:extLst>
      <p:ext uri="{BB962C8B-B14F-4D97-AF65-F5344CB8AC3E}">
        <p14:creationId xmlns:p14="http://schemas.microsoft.com/office/powerpoint/2010/main" val="3564283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編號版面配置區 5">
            <a:extLst>
              <a:ext uri="{FF2B5EF4-FFF2-40B4-BE49-F238E27FC236}">
                <a16:creationId xmlns:a16="http://schemas.microsoft.com/office/drawing/2014/main" id="{32013E47-2F72-3841-6AD5-F546BFF1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7B08AE-DC21-42BD-BDE3-B49E36F9AC30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400" dirty="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E7743CA-B77F-B54A-B6E8-870C2913BB61}"/>
              </a:ext>
            </a:extLst>
          </p:cNvPr>
          <p:cNvGraphicFramePr>
            <a:graphicFrameLocks noGrp="1"/>
          </p:cNvGraphicFramePr>
          <p:nvPr/>
        </p:nvGraphicFramePr>
        <p:xfrm>
          <a:off x="3168725" y="1998613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685A149-F5B9-43A2-A9EA-0F9289FE5ABF}"/>
              </a:ext>
            </a:extLst>
          </p:cNvPr>
          <p:cNvGraphicFramePr>
            <a:graphicFrameLocks noGrp="1"/>
          </p:cNvGraphicFramePr>
          <p:nvPr/>
        </p:nvGraphicFramePr>
        <p:xfrm>
          <a:off x="3168725" y="3035883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1 2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195AB80-6270-4A75-1044-1277DB8C1CF3}"/>
              </a:ext>
            </a:extLst>
          </p:cNvPr>
          <p:cNvGraphicFramePr>
            <a:graphicFrameLocks noGrp="1"/>
          </p:cNvGraphicFramePr>
          <p:nvPr/>
        </p:nvGraphicFramePr>
        <p:xfrm>
          <a:off x="3168725" y="4155814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1 2 3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2A1A500-8C18-F48C-8457-0CA0C5CE6523}"/>
              </a:ext>
            </a:extLst>
          </p:cNvPr>
          <p:cNvGraphicFramePr>
            <a:graphicFrameLocks noGrp="1"/>
          </p:cNvGraphicFramePr>
          <p:nvPr/>
        </p:nvGraphicFramePr>
        <p:xfrm>
          <a:off x="3167844" y="5275745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1 2 3 4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C6ACB4A-ED72-0150-6961-560250D9C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333089"/>
              </p:ext>
            </p:extLst>
          </p:nvPr>
        </p:nvGraphicFramePr>
        <p:xfrm>
          <a:off x="3176349" y="527080"/>
          <a:ext cx="280831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主角</a:t>
                      </a:r>
                      <a:r>
                        <a:rPr lang="en-US" altLang="zh-TW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zh-TW" altLang="en-US" b="1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配角</a:t>
                      </a:r>
                      <a:r>
                        <a:rPr lang="en-US" altLang="zh-TW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zh-TW" altLang="en-US" b="1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配角</a:t>
                      </a:r>
                      <a:r>
                        <a:rPr lang="en-US" altLang="zh-TW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zh-TW" altLang="en-US" b="1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773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87EDD744-EFF5-61DD-CAC4-8A867D3F704B}"/>
              </a:ext>
            </a:extLst>
          </p:cNvPr>
          <p:cNvGraphicFramePr>
            <a:graphicFrameLocks noGrp="1"/>
          </p:cNvGraphicFramePr>
          <p:nvPr/>
        </p:nvGraphicFramePr>
        <p:xfrm>
          <a:off x="6156176" y="5275745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1 2 3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964B35F3-24B8-159C-6406-D65E4A4B5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965277"/>
              </p:ext>
            </p:extLst>
          </p:nvPr>
        </p:nvGraphicFramePr>
        <p:xfrm>
          <a:off x="179512" y="5275745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1 2 3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TW" alt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sp>
        <p:nvSpPr>
          <p:cNvPr id="2" name="箭號: 弧形上彎 1">
            <a:extLst>
              <a:ext uri="{FF2B5EF4-FFF2-40B4-BE49-F238E27FC236}">
                <a16:creationId xmlns:a16="http://schemas.microsoft.com/office/drawing/2014/main" id="{55C2156C-3053-F7A2-642F-C1DE7E98F03B}"/>
              </a:ext>
            </a:extLst>
          </p:cNvPr>
          <p:cNvSpPr/>
          <p:nvPr/>
        </p:nvSpPr>
        <p:spPr bwMode="auto">
          <a:xfrm>
            <a:off x="1538916" y="5691852"/>
            <a:ext cx="1008112" cy="370840"/>
          </a:xfrm>
          <a:prstGeom prst="curvedUp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3" name="箭號: 弧形上彎 2">
            <a:extLst>
              <a:ext uri="{FF2B5EF4-FFF2-40B4-BE49-F238E27FC236}">
                <a16:creationId xmlns:a16="http://schemas.microsoft.com/office/drawing/2014/main" id="{EC012A34-5AC6-2372-FB3A-A4DA593E7640}"/>
              </a:ext>
            </a:extLst>
          </p:cNvPr>
          <p:cNvSpPr/>
          <p:nvPr/>
        </p:nvSpPr>
        <p:spPr bwMode="auto">
          <a:xfrm rot="10800000">
            <a:off x="1524351" y="4859638"/>
            <a:ext cx="1008112" cy="370840"/>
          </a:xfrm>
          <a:prstGeom prst="curvedUp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375CF84-F96E-533E-99B3-6106D90EB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445261"/>
              </p:ext>
            </p:extLst>
          </p:nvPr>
        </p:nvGraphicFramePr>
        <p:xfrm>
          <a:off x="179512" y="6395204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1 2 3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sp>
        <p:nvSpPr>
          <p:cNvPr id="6" name="箭號: 向下 5">
            <a:extLst>
              <a:ext uri="{FF2B5EF4-FFF2-40B4-BE49-F238E27FC236}">
                <a16:creationId xmlns:a16="http://schemas.microsoft.com/office/drawing/2014/main" id="{E3C35052-B723-2585-4D23-76D07AC26649}"/>
              </a:ext>
            </a:extLst>
          </p:cNvPr>
          <p:cNvSpPr/>
          <p:nvPr/>
        </p:nvSpPr>
        <p:spPr bwMode="auto">
          <a:xfrm>
            <a:off x="4472493" y="1355107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1" name="箭號: 向下 10">
            <a:extLst>
              <a:ext uri="{FF2B5EF4-FFF2-40B4-BE49-F238E27FC236}">
                <a16:creationId xmlns:a16="http://schemas.microsoft.com/office/drawing/2014/main" id="{9C44D3CF-91C8-4FC4-2E28-2190F9675022}"/>
              </a:ext>
            </a:extLst>
          </p:cNvPr>
          <p:cNvSpPr/>
          <p:nvPr/>
        </p:nvSpPr>
        <p:spPr bwMode="auto">
          <a:xfrm>
            <a:off x="4472493" y="2423814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B8D6F6B5-75C8-D6AB-33C0-DC901E8F3953}"/>
              </a:ext>
            </a:extLst>
          </p:cNvPr>
          <p:cNvSpPr/>
          <p:nvPr/>
        </p:nvSpPr>
        <p:spPr bwMode="auto">
          <a:xfrm>
            <a:off x="4463988" y="3515530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D3ADC93D-C93D-12AA-5B6D-DEADA744F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72" y="54367"/>
            <a:ext cx="4221216" cy="525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r>
              <a:rPr lang="en-US" altLang="zh-TW" sz="2400" dirty="0">
                <a:latin typeface="Times New Roman" panose="02020603050405020304" pitchFamily="18" charset="0"/>
              </a:rPr>
              <a:t>[1, 2, 3, 4]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endParaRPr lang="en-US" altLang="zh-TW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8AB1A59-D170-FE84-DB30-FCA77E780889}"/>
              </a:ext>
            </a:extLst>
          </p:cNvPr>
          <p:cNvSpPr txBox="1"/>
          <p:nvPr/>
        </p:nvSpPr>
        <p:spPr>
          <a:xfrm>
            <a:off x="5976156" y="1946775"/>
            <a:ext cx="805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d1 = 1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d2 = 1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E20661D-8659-B91D-5DD5-173DCDD1FECC}"/>
              </a:ext>
            </a:extLst>
          </p:cNvPr>
          <p:cNvSpPr txBox="1"/>
          <p:nvPr/>
        </p:nvSpPr>
        <p:spPr>
          <a:xfrm>
            <a:off x="5976156" y="2990471"/>
            <a:ext cx="805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d1 = 3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d2 = 3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1BCAD9F-08B0-74BC-B17B-4335D4CD3C92}"/>
              </a:ext>
            </a:extLst>
          </p:cNvPr>
          <p:cNvSpPr txBox="1"/>
          <p:nvPr/>
        </p:nvSpPr>
        <p:spPr>
          <a:xfrm>
            <a:off x="5984661" y="4031787"/>
            <a:ext cx="805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d1 = 6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d2 = 6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92805EB-C5DE-7066-85DF-737C7943147F}"/>
              </a:ext>
            </a:extLst>
          </p:cNvPr>
          <p:cNvSpPr txBox="1"/>
          <p:nvPr/>
        </p:nvSpPr>
        <p:spPr>
          <a:xfrm>
            <a:off x="5350532" y="5664550"/>
            <a:ext cx="805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d1 = 10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d2 = 10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D917F4A-088C-BAC2-F874-764E658F8E5C}"/>
              </a:ext>
            </a:extLst>
          </p:cNvPr>
          <p:cNvSpPr txBox="1"/>
          <p:nvPr/>
        </p:nvSpPr>
        <p:spPr>
          <a:xfrm>
            <a:off x="7734300" y="5664024"/>
            <a:ext cx="805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d1 = 2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d2 = 6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86F730-B92F-5889-5597-4F0168852EEF}"/>
              </a:ext>
            </a:extLst>
          </p:cNvPr>
          <p:cNvSpPr txBox="1"/>
          <p:nvPr/>
        </p:nvSpPr>
        <p:spPr>
          <a:xfrm>
            <a:off x="3021596" y="6262696"/>
            <a:ext cx="805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d1 = 2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d2 = 6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E5B4C8C-95F1-A211-0F30-977A32666310}"/>
              </a:ext>
            </a:extLst>
          </p:cNvPr>
          <p:cNvSpPr txBox="1"/>
          <p:nvPr/>
        </p:nvSpPr>
        <p:spPr>
          <a:xfrm>
            <a:off x="2491957" y="5634085"/>
            <a:ext cx="805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d1 = 6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d2 = 2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9637792-7D12-66D6-55BE-117410078184}"/>
              </a:ext>
            </a:extLst>
          </p:cNvPr>
          <p:cNvSpPr txBox="1"/>
          <p:nvPr/>
        </p:nvSpPr>
        <p:spPr>
          <a:xfrm>
            <a:off x="3018231" y="6615516"/>
            <a:ext cx="1363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smallest d = 6</a:t>
            </a:r>
            <a:endParaRPr lang="zh-TW" altLang="en-US" sz="1200" b="1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70C503D-85BD-9016-CC23-24863CA9EA59}"/>
              </a:ext>
            </a:extLst>
          </p:cNvPr>
          <p:cNvSpPr txBox="1"/>
          <p:nvPr/>
        </p:nvSpPr>
        <p:spPr>
          <a:xfrm>
            <a:off x="5350531" y="6062692"/>
            <a:ext cx="1633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smallest d = 10</a:t>
            </a:r>
            <a:endParaRPr lang="zh-TW" altLang="en-US" sz="1200" b="1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95D7CAE-9CBA-55B3-D1C7-9E6FDB3925D4}"/>
              </a:ext>
            </a:extLst>
          </p:cNvPr>
          <p:cNvSpPr txBox="1"/>
          <p:nvPr/>
        </p:nvSpPr>
        <p:spPr>
          <a:xfrm>
            <a:off x="7734300" y="6058199"/>
            <a:ext cx="1363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smallest d = 6</a:t>
            </a:r>
            <a:endParaRPr lang="zh-TW" altLang="en-US" sz="1200" b="1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箭號: 向下 28">
            <a:extLst>
              <a:ext uri="{FF2B5EF4-FFF2-40B4-BE49-F238E27FC236}">
                <a16:creationId xmlns:a16="http://schemas.microsoft.com/office/drawing/2014/main" id="{2B2D133D-4A7A-B173-CB8D-EDE2CE20F724}"/>
              </a:ext>
            </a:extLst>
          </p:cNvPr>
          <p:cNvSpPr/>
          <p:nvPr/>
        </p:nvSpPr>
        <p:spPr bwMode="auto">
          <a:xfrm rot="18900000">
            <a:off x="6270966" y="4588289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30" name="箭號: 向下 29">
            <a:extLst>
              <a:ext uri="{FF2B5EF4-FFF2-40B4-BE49-F238E27FC236}">
                <a16:creationId xmlns:a16="http://schemas.microsoft.com/office/drawing/2014/main" id="{9581F898-D862-62BF-D25E-06FA441FA545}"/>
              </a:ext>
            </a:extLst>
          </p:cNvPr>
          <p:cNvSpPr/>
          <p:nvPr/>
        </p:nvSpPr>
        <p:spPr bwMode="auto">
          <a:xfrm rot="2700000">
            <a:off x="2703297" y="4619601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2708FF0-7FD0-C119-5246-4630418885FF}"/>
              </a:ext>
            </a:extLst>
          </p:cNvPr>
          <p:cNvSpPr txBox="1"/>
          <p:nvPr/>
        </p:nvSpPr>
        <p:spPr>
          <a:xfrm>
            <a:off x="5976156" y="4388154"/>
            <a:ext cx="1363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smallest d = 6</a:t>
            </a:r>
            <a:endParaRPr lang="zh-TW" altLang="en-US" sz="1200" b="1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D94D1B9-F488-E88B-5B02-690466CB5EA1}"/>
              </a:ext>
            </a:extLst>
          </p:cNvPr>
          <p:cNvSpPr txBox="1"/>
          <p:nvPr/>
        </p:nvSpPr>
        <p:spPr>
          <a:xfrm>
            <a:off x="3219204" y="1491905"/>
            <a:ext cx="1106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>
                <a:latin typeface="+mn-ea"/>
                <a:ea typeface="+mn-ea"/>
              </a:rPr>
              <a:t>分配</a:t>
            </a:r>
            <a:r>
              <a:rPr lang="en-US" altLang="zh-TW" sz="1600" dirty="0">
                <a:latin typeface="+mn-ea"/>
                <a:ea typeface="+mn-ea"/>
              </a:rPr>
              <a:t> 1</a:t>
            </a:r>
          </a:p>
        </p:txBody>
      </p:sp>
      <p:sp>
        <p:nvSpPr>
          <p:cNvPr id="34" name="箭號: 向下 33">
            <a:extLst>
              <a:ext uri="{FF2B5EF4-FFF2-40B4-BE49-F238E27FC236}">
                <a16:creationId xmlns:a16="http://schemas.microsoft.com/office/drawing/2014/main" id="{4745DF69-4CBA-439E-9B0A-273F8CECCC13}"/>
              </a:ext>
            </a:extLst>
          </p:cNvPr>
          <p:cNvSpPr/>
          <p:nvPr/>
        </p:nvSpPr>
        <p:spPr bwMode="auto">
          <a:xfrm>
            <a:off x="4463988" y="4619601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474E72A2-6A03-4FAD-0D09-D3204F7B8623}"/>
              </a:ext>
            </a:extLst>
          </p:cNvPr>
          <p:cNvSpPr txBox="1"/>
          <p:nvPr/>
        </p:nvSpPr>
        <p:spPr>
          <a:xfrm>
            <a:off x="3185668" y="2505346"/>
            <a:ext cx="1106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>
                <a:latin typeface="+mn-ea"/>
                <a:ea typeface="+mn-ea"/>
              </a:rPr>
              <a:t>分配</a:t>
            </a:r>
            <a:r>
              <a:rPr lang="en-US" altLang="zh-TW" sz="1600" dirty="0">
                <a:latin typeface="+mn-ea"/>
                <a:ea typeface="+mn-ea"/>
              </a:rPr>
              <a:t> 2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80BD2C1-597F-10FA-F234-357398D9B6C6}"/>
              </a:ext>
            </a:extLst>
          </p:cNvPr>
          <p:cNvSpPr txBox="1"/>
          <p:nvPr/>
        </p:nvSpPr>
        <p:spPr>
          <a:xfrm>
            <a:off x="3191744" y="3593579"/>
            <a:ext cx="1106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>
                <a:latin typeface="+mn-ea"/>
                <a:ea typeface="+mn-ea"/>
              </a:rPr>
              <a:t>分配</a:t>
            </a:r>
            <a:r>
              <a:rPr lang="en-US" altLang="zh-TW" sz="1600" dirty="0">
                <a:latin typeface="+mn-ea"/>
                <a:ea typeface="+mn-ea"/>
              </a:rPr>
              <a:t> 3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E413ED7D-61FC-C6E2-43DD-FF46A933B18D}"/>
              </a:ext>
            </a:extLst>
          </p:cNvPr>
          <p:cNvSpPr txBox="1"/>
          <p:nvPr/>
        </p:nvSpPr>
        <p:spPr>
          <a:xfrm>
            <a:off x="3214131" y="4688098"/>
            <a:ext cx="1106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>
                <a:latin typeface="+mn-ea"/>
                <a:ea typeface="+mn-ea"/>
              </a:rPr>
              <a:t>分配</a:t>
            </a:r>
            <a:r>
              <a:rPr lang="en-US" altLang="zh-TW" sz="1600" dirty="0">
                <a:latin typeface="+mn-ea"/>
                <a:ea typeface="+mn-ea"/>
              </a:rPr>
              <a:t> 4</a:t>
            </a:r>
          </a:p>
        </p:txBody>
      </p:sp>
      <p:sp>
        <p:nvSpPr>
          <p:cNvPr id="44" name="箭號: 向下 43">
            <a:extLst>
              <a:ext uri="{FF2B5EF4-FFF2-40B4-BE49-F238E27FC236}">
                <a16:creationId xmlns:a16="http://schemas.microsoft.com/office/drawing/2014/main" id="{69A0BE5A-CDFC-53A1-7EB2-A4C924E1AC43}"/>
              </a:ext>
            </a:extLst>
          </p:cNvPr>
          <p:cNvSpPr/>
          <p:nvPr/>
        </p:nvSpPr>
        <p:spPr bwMode="auto">
          <a:xfrm rot="18900000">
            <a:off x="6203415" y="3427543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5" name="箭號: 向下 44">
            <a:extLst>
              <a:ext uri="{FF2B5EF4-FFF2-40B4-BE49-F238E27FC236}">
                <a16:creationId xmlns:a16="http://schemas.microsoft.com/office/drawing/2014/main" id="{EF6614CE-88D8-3D9B-FC63-66F35E4D9CDE}"/>
              </a:ext>
            </a:extLst>
          </p:cNvPr>
          <p:cNvSpPr/>
          <p:nvPr/>
        </p:nvSpPr>
        <p:spPr bwMode="auto">
          <a:xfrm rot="2700000">
            <a:off x="2635746" y="3458855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6" name="箭號: 向下 45">
            <a:extLst>
              <a:ext uri="{FF2B5EF4-FFF2-40B4-BE49-F238E27FC236}">
                <a16:creationId xmlns:a16="http://schemas.microsoft.com/office/drawing/2014/main" id="{796D7E18-5B99-CEE9-8250-21D27F99362D}"/>
              </a:ext>
            </a:extLst>
          </p:cNvPr>
          <p:cNvSpPr/>
          <p:nvPr/>
        </p:nvSpPr>
        <p:spPr bwMode="auto">
          <a:xfrm rot="18900000">
            <a:off x="6203414" y="2429101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7" name="箭號: 向下 46">
            <a:extLst>
              <a:ext uri="{FF2B5EF4-FFF2-40B4-BE49-F238E27FC236}">
                <a16:creationId xmlns:a16="http://schemas.microsoft.com/office/drawing/2014/main" id="{B845E504-B333-80FC-B13E-17C8F265CD1A}"/>
              </a:ext>
            </a:extLst>
          </p:cNvPr>
          <p:cNvSpPr/>
          <p:nvPr/>
        </p:nvSpPr>
        <p:spPr bwMode="auto">
          <a:xfrm rot="2700000">
            <a:off x="2635745" y="2460413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8" name="箭號: 向下 47">
            <a:extLst>
              <a:ext uri="{FF2B5EF4-FFF2-40B4-BE49-F238E27FC236}">
                <a16:creationId xmlns:a16="http://schemas.microsoft.com/office/drawing/2014/main" id="{54CDEC9F-DDF4-CED3-7C9B-5E432A5C9665}"/>
              </a:ext>
            </a:extLst>
          </p:cNvPr>
          <p:cNvSpPr/>
          <p:nvPr/>
        </p:nvSpPr>
        <p:spPr bwMode="auto">
          <a:xfrm rot="18900000">
            <a:off x="6215291" y="1239313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9" name="箭號: 向下 48">
            <a:extLst>
              <a:ext uri="{FF2B5EF4-FFF2-40B4-BE49-F238E27FC236}">
                <a16:creationId xmlns:a16="http://schemas.microsoft.com/office/drawing/2014/main" id="{B54A9518-9AEA-7416-1222-17134E6C08E5}"/>
              </a:ext>
            </a:extLst>
          </p:cNvPr>
          <p:cNvSpPr/>
          <p:nvPr/>
        </p:nvSpPr>
        <p:spPr bwMode="auto">
          <a:xfrm rot="2700000">
            <a:off x="2647622" y="1270625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8672197-BF86-43AE-D2E2-6536341BFB5A}"/>
              </a:ext>
            </a:extLst>
          </p:cNvPr>
          <p:cNvCxnSpPr/>
          <p:nvPr/>
        </p:nvCxnSpPr>
        <p:spPr bwMode="auto">
          <a:xfrm flipH="1">
            <a:off x="6047144" y="4619601"/>
            <a:ext cx="147670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96942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6" grpId="0" animBg="1"/>
      <p:bldP spid="11" grpId="0" animBg="1"/>
      <p:bldP spid="12" grpId="0" animBg="1"/>
      <p:bldP spid="16" grpId="0"/>
      <p:bldP spid="17" grpId="0"/>
      <p:bldP spid="18" grpId="0"/>
      <p:bldP spid="19" grpId="0"/>
      <p:bldP spid="19" grpId="1"/>
      <p:bldP spid="20" grpId="0"/>
      <p:bldP spid="20" grpId="1"/>
      <p:bldP spid="21" grpId="0"/>
      <p:bldP spid="21" grpId="1"/>
      <p:bldP spid="23" grpId="0"/>
      <p:bldP spid="23" grpId="1"/>
      <p:bldP spid="25" grpId="0"/>
      <p:bldP spid="25" grpId="1"/>
      <p:bldP spid="26" grpId="0"/>
      <p:bldP spid="26" grpId="1"/>
      <p:bldP spid="27" grpId="0"/>
      <p:bldP spid="27" grpId="1"/>
      <p:bldP spid="29" grpId="0" animBg="1"/>
      <p:bldP spid="29" grpId="1" animBg="1"/>
      <p:bldP spid="30" grpId="0" animBg="1"/>
      <p:bldP spid="30" grpId="1" animBg="1"/>
      <p:bldP spid="32" grpId="0"/>
      <p:bldP spid="33" grpId="0"/>
      <p:bldP spid="34" grpId="0" animBg="1"/>
      <p:bldP spid="34" grpId="1" animBg="1"/>
      <p:bldP spid="41" grpId="0"/>
      <p:bldP spid="42" grpId="0"/>
      <p:bldP spid="43" grpId="0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編號版面配置區 5">
            <a:extLst>
              <a:ext uri="{FF2B5EF4-FFF2-40B4-BE49-F238E27FC236}">
                <a16:creationId xmlns:a16="http://schemas.microsoft.com/office/drawing/2014/main" id="{32013E47-2F72-3841-6AD5-F546BFF1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7B08AE-DC21-42BD-BDE3-B49E36F9AC30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E7743CA-B77F-B54A-B6E8-870C2913BB61}"/>
              </a:ext>
            </a:extLst>
          </p:cNvPr>
          <p:cNvGraphicFramePr>
            <a:graphicFrameLocks noGrp="1"/>
          </p:cNvGraphicFramePr>
          <p:nvPr/>
        </p:nvGraphicFramePr>
        <p:xfrm>
          <a:off x="3168725" y="1998613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685A149-F5B9-43A2-A9EA-0F9289FE5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378376"/>
              </p:ext>
            </p:extLst>
          </p:nvPr>
        </p:nvGraphicFramePr>
        <p:xfrm>
          <a:off x="3168725" y="3035883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1 2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195AB80-6270-4A75-1044-1277DB8C1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324495"/>
              </p:ext>
            </p:extLst>
          </p:nvPr>
        </p:nvGraphicFramePr>
        <p:xfrm>
          <a:off x="3168725" y="4155814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1 2 3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C6ACB4A-ED72-0150-6961-560250D9C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403810"/>
              </p:ext>
            </p:extLst>
          </p:nvPr>
        </p:nvGraphicFramePr>
        <p:xfrm>
          <a:off x="3176349" y="527080"/>
          <a:ext cx="280831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zh-TW" altLang="en-US" b="1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zh-TW" altLang="en-US" b="1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zh-TW" altLang="en-US" b="1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773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sp>
        <p:nvSpPr>
          <p:cNvPr id="2" name="箭號: 弧形上彎 1">
            <a:extLst>
              <a:ext uri="{FF2B5EF4-FFF2-40B4-BE49-F238E27FC236}">
                <a16:creationId xmlns:a16="http://schemas.microsoft.com/office/drawing/2014/main" id="{55C2156C-3053-F7A2-642F-C1DE7E98F03B}"/>
              </a:ext>
            </a:extLst>
          </p:cNvPr>
          <p:cNvSpPr/>
          <p:nvPr/>
        </p:nvSpPr>
        <p:spPr bwMode="auto">
          <a:xfrm>
            <a:off x="1475656" y="4620092"/>
            <a:ext cx="1008112" cy="370840"/>
          </a:xfrm>
          <a:prstGeom prst="curvedUp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3" name="箭號: 弧形上彎 2">
            <a:extLst>
              <a:ext uri="{FF2B5EF4-FFF2-40B4-BE49-F238E27FC236}">
                <a16:creationId xmlns:a16="http://schemas.microsoft.com/office/drawing/2014/main" id="{EC012A34-5AC6-2372-FB3A-A4DA593E7640}"/>
              </a:ext>
            </a:extLst>
          </p:cNvPr>
          <p:cNvSpPr/>
          <p:nvPr/>
        </p:nvSpPr>
        <p:spPr bwMode="auto">
          <a:xfrm rot="10800000">
            <a:off x="1475656" y="3713479"/>
            <a:ext cx="1008112" cy="370840"/>
          </a:xfrm>
          <a:prstGeom prst="curvedUp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B143B60-E2A3-9806-A783-335D0322D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675525"/>
              </p:ext>
            </p:extLst>
          </p:nvPr>
        </p:nvGraphicFramePr>
        <p:xfrm>
          <a:off x="6156176" y="4155814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1 2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9BFD49C-3CF5-1562-B734-ADCFD78C3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740008"/>
              </p:ext>
            </p:extLst>
          </p:nvPr>
        </p:nvGraphicFramePr>
        <p:xfrm>
          <a:off x="179512" y="4166786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1 2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E3867CA6-B8DC-BCE7-AF0F-301AD7400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251317"/>
              </p:ext>
            </p:extLst>
          </p:nvPr>
        </p:nvGraphicFramePr>
        <p:xfrm>
          <a:off x="6156176" y="5805264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1 2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3 4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C2209A79-40D3-7EA3-8AAC-EF787A3D4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729917"/>
              </p:ext>
            </p:extLst>
          </p:nvPr>
        </p:nvGraphicFramePr>
        <p:xfrm>
          <a:off x="3165641" y="5805264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1 2 4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44B1087-D815-BD3E-4A00-C78DA0436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599001"/>
              </p:ext>
            </p:extLst>
          </p:nvPr>
        </p:nvGraphicFramePr>
        <p:xfrm>
          <a:off x="179512" y="5805264"/>
          <a:ext cx="2808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9041158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79855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901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1 2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TW" alt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32147"/>
                  </a:ext>
                </a:extLst>
              </a:tr>
            </a:tbl>
          </a:graphicData>
        </a:graphic>
      </p:graphicFrame>
      <p:sp>
        <p:nvSpPr>
          <p:cNvPr id="23" name="文字方塊 22">
            <a:extLst>
              <a:ext uri="{FF2B5EF4-FFF2-40B4-BE49-F238E27FC236}">
                <a16:creationId xmlns:a16="http://schemas.microsoft.com/office/drawing/2014/main" id="{327890B7-D24E-DF66-F5D8-0C469B7E7C02}"/>
              </a:ext>
            </a:extLst>
          </p:cNvPr>
          <p:cNvSpPr txBox="1"/>
          <p:nvPr/>
        </p:nvSpPr>
        <p:spPr>
          <a:xfrm>
            <a:off x="4882427" y="4582846"/>
            <a:ext cx="805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d1 = 6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d2 = 6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BF88C06-E768-992B-FFE9-CD947374C9AF}"/>
              </a:ext>
            </a:extLst>
          </p:cNvPr>
          <p:cNvSpPr txBox="1"/>
          <p:nvPr/>
        </p:nvSpPr>
        <p:spPr>
          <a:xfrm>
            <a:off x="4873922" y="4939213"/>
            <a:ext cx="1363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smallest d = 6</a:t>
            </a:r>
            <a:endParaRPr lang="zh-TW" altLang="en-US" sz="1200" b="1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箭號: 向下 25">
            <a:extLst>
              <a:ext uri="{FF2B5EF4-FFF2-40B4-BE49-F238E27FC236}">
                <a16:creationId xmlns:a16="http://schemas.microsoft.com/office/drawing/2014/main" id="{742ED7C7-0028-DB2C-2428-62D2386CB9F3}"/>
              </a:ext>
            </a:extLst>
          </p:cNvPr>
          <p:cNvSpPr/>
          <p:nvPr/>
        </p:nvSpPr>
        <p:spPr bwMode="auto">
          <a:xfrm>
            <a:off x="4461785" y="3493190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31" name="箭號: 向下 30">
            <a:extLst>
              <a:ext uri="{FF2B5EF4-FFF2-40B4-BE49-F238E27FC236}">
                <a16:creationId xmlns:a16="http://schemas.microsoft.com/office/drawing/2014/main" id="{46EC4DD8-0204-F6B5-B1A5-BC80673B7034}"/>
              </a:ext>
            </a:extLst>
          </p:cNvPr>
          <p:cNvSpPr/>
          <p:nvPr/>
        </p:nvSpPr>
        <p:spPr bwMode="auto">
          <a:xfrm>
            <a:off x="4472493" y="1355107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32" name="箭號: 向下 31">
            <a:extLst>
              <a:ext uri="{FF2B5EF4-FFF2-40B4-BE49-F238E27FC236}">
                <a16:creationId xmlns:a16="http://schemas.microsoft.com/office/drawing/2014/main" id="{1E88AE65-FECE-F138-B3B3-0555FF9FE605}"/>
              </a:ext>
            </a:extLst>
          </p:cNvPr>
          <p:cNvSpPr/>
          <p:nvPr/>
        </p:nvSpPr>
        <p:spPr bwMode="auto">
          <a:xfrm>
            <a:off x="4472493" y="2423814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34" name="箭號: 向下 33">
            <a:extLst>
              <a:ext uri="{FF2B5EF4-FFF2-40B4-BE49-F238E27FC236}">
                <a16:creationId xmlns:a16="http://schemas.microsoft.com/office/drawing/2014/main" id="{B91A7DBB-37D8-CFB7-5B75-B415FAF2029E}"/>
              </a:ext>
            </a:extLst>
          </p:cNvPr>
          <p:cNvSpPr/>
          <p:nvPr/>
        </p:nvSpPr>
        <p:spPr bwMode="auto">
          <a:xfrm>
            <a:off x="7524328" y="4759408"/>
            <a:ext cx="197556" cy="873344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C38079E7-B123-DDA4-6B80-511C32557872}"/>
              </a:ext>
            </a:extLst>
          </p:cNvPr>
          <p:cNvSpPr txBox="1"/>
          <p:nvPr/>
        </p:nvSpPr>
        <p:spPr>
          <a:xfrm>
            <a:off x="7813873" y="4541086"/>
            <a:ext cx="805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d1 = 0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d2 = 3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384CB85B-B5CA-A79F-CE66-C607E51EBA36}"/>
              </a:ext>
            </a:extLst>
          </p:cNvPr>
          <p:cNvSpPr txBox="1"/>
          <p:nvPr/>
        </p:nvSpPr>
        <p:spPr>
          <a:xfrm>
            <a:off x="7805368" y="4897453"/>
            <a:ext cx="1363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smallest d = 1</a:t>
            </a:r>
            <a:endParaRPr lang="zh-TW" altLang="en-US" sz="1200" b="1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D565B714-61C9-606B-6F1F-7B37204C022D}"/>
              </a:ext>
            </a:extLst>
          </p:cNvPr>
          <p:cNvGrpSpPr/>
          <p:nvPr/>
        </p:nvGrpSpPr>
        <p:grpSpPr>
          <a:xfrm>
            <a:off x="7169358" y="6200986"/>
            <a:ext cx="1363082" cy="633366"/>
            <a:chOff x="7235459" y="6200986"/>
            <a:chExt cx="1363082" cy="633366"/>
          </a:xfrm>
        </p:grpSpPr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CEBD1DF5-8B50-E8E4-FEC3-4B463BFE964D}"/>
                </a:ext>
              </a:extLst>
            </p:cNvPr>
            <p:cNvSpPr txBox="1"/>
            <p:nvPr/>
          </p:nvSpPr>
          <p:spPr>
            <a:xfrm>
              <a:off x="7243964" y="6200986"/>
              <a:ext cx="805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d1 = 4</a:t>
              </a:r>
            </a:p>
            <a:p>
              <a:r>
                <a:rPr lang="en-US" altLang="zh-TW" sz="1200" dirty="0">
                  <a:latin typeface="Consolas" panose="020B0609020204030204" pitchFamily="49" charset="0"/>
                </a:rPr>
                <a:t>d2 = 3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D1183F2A-F2BE-38AF-8199-F9DAFCE0A300}"/>
                </a:ext>
              </a:extLst>
            </p:cNvPr>
            <p:cNvSpPr txBox="1"/>
            <p:nvPr/>
          </p:nvSpPr>
          <p:spPr>
            <a:xfrm>
              <a:off x="7235459" y="6557353"/>
              <a:ext cx="13630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smallest d = 4</a:t>
              </a:r>
              <a:endParaRPr lang="zh-TW" altLang="en-US" sz="1200" b="1" dirty="0">
                <a:solidFill>
                  <a:srgbClr val="0070C0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4742138C-B055-E46C-E9BC-0F95D308534A}"/>
              </a:ext>
            </a:extLst>
          </p:cNvPr>
          <p:cNvSpPr txBox="1"/>
          <p:nvPr/>
        </p:nvSpPr>
        <p:spPr>
          <a:xfrm>
            <a:off x="4226806" y="6200986"/>
            <a:ext cx="805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d1 = 4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d2 = 7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4660B5E5-C086-6C29-A34C-F03376872F5A}"/>
              </a:ext>
            </a:extLst>
          </p:cNvPr>
          <p:cNvSpPr txBox="1"/>
          <p:nvPr/>
        </p:nvSpPr>
        <p:spPr>
          <a:xfrm>
            <a:off x="4218301" y="6557353"/>
            <a:ext cx="1363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smallest d = 7</a:t>
            </a:r>
            <a:endParaRPr lang="zh-TW" altLang="en-US" sz="1200" b="1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A4014090-F499-9945-3A58-F7384D93B3EA}"/>
              </a:ext>
            </a:extLst>
          </p:cNvPr>
          <p:cNvSpPr txBox="1"/>
          <p:nvPr/>
        </p:nvSpPr>
        <p:spPr>
          <a:xfrm>
            <a:off x="1181742" y="6165304"/>
            <a:ext cx="805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d1 = 0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d2 = 1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AA90D8C7-1B62-5C26-F254-DDAA1B93F8DC}"/>
              </a:ext>
            </a:extLst>
          </p:cNvPr>
          <p:cNvSpPr txBox="1"/>
          <p:nvPr/>
        </p:nvSpPr>
        <p:spPr>
          <a:xfrm>
            <a:off x="1173237" y="6521671"/>
            <a:ext cx="1363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smallest d = 1</a:t>
            </a:r>
            <a:endParaRPr lang="zh-TW" altLang="en-US" sz="1200" b="1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40795F4-B605-2832-5FCF-113A2C32F6E0}"/>
              </a:ext>
            </a:extLst>
          </p:cNvPr>
          <p:cNvSpPr/>
          <p:nvPr/>
        </p:nvSpPr>
        <p:spPr bwMode="auto">
          <a:xfrm>
            <a:off x="1591586" y="5203826"/>
            <a:ext cx="6055200" cy="108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8" name="箭號: 向下 47">
            <a:extLst>
              <a:ext uri="{FF2B5EF4-FFF2-40B4-BE49-F238E27FC236}">
                <a16:creationId xmlns:a16="http://schemas.microsoft.com/office/drawing/2014/main" id="{A3CF5D31-59E3-0CA4-E7CA-B4567A77A416}"/>
              </a:ext>
            </a:extLst>
          </p:cNvPr>
          <p:cNvSpPr/>
          <p:nvPr/>
        </p:nvSpPr>
        <p:spPr bwMode="auto">
          <a:xfrm>
            <a:off x="4455038" y="5209784"/>
            <a:ext cx="216000" cy="404855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9" name="箭號: 向下 48">
            <a:extLst>
              <a:ext uri="{FF2B5EF4-FFF2-40B4-BE49-F238E27FC236}">
                <a16:creationId xmlns:a16="http://schemas.microsoft.com/office/drawing/2014/main" id="{734DA3E8-57A5-5327-0FCD-7D95418884E2}"/>
              </a:ext>
            </a:extLst>
          </p:cNvPr>
          <p:cNvSpPr/>
          <p:nvPr/>
        </p:nvSpPr>
        <p:spPr bwMode="auto">
          <a:xfrm>
            <a:off x="1475668" y="5214798"/>
            <a:ext cx="216000" cy="404855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1F74EE9F-DF76-A71A-DD69-410842D1F2E7}"/>
              </a:ext>
            </a:extLst>
          </p:cNvPr>
          <p:cNvSpPr txBox="1"/>
          <p:nvPr/>
        </p:nvSpPr>
        <p:spPr>
          <a:xfrm>
            <a:off x="6173059" y="3329050"/>
            <a:ext cx="1363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smallest d = 1</a:t>
            </a:r>
            <a:endParaRPr lang="zh-TW" altLang="en-US" sz="1200" b="1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5493FCBF-A7A6-3ED5-1E9C-75CC4EAB0516}"/>
              </a:ext>
            </a:extLst>
          </p:cNvPr>
          <p:cNvSpPr txBox="1"/>
          <p:nvPr/>
        </p:nvSpPr>
        <p:spPr>
          <a:xfrm>
            <a:off x="3219204" y="1491905"/>
            <a:ext cx="1106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>
                <a:latin typeface="+mn-ea"/>
                <a:ea typeface="+mn-ea"/>
              </a:rPr>
              <a:t>分配</a:t>
            </a:r>
            <a:r>
              <a:rPr lang="en-US" altLang="zh-TW" sz="1600" dirty="0">
                <a:latin typeface="+mn-ea"/>
                <a:ea typeface="+mn-ea"/>
              </a:rPr>
              <a:t> 1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2B6C82DC-C0B4-3A42-B608-7CDF46EA8543}"/>
              </a:ext>
            </a:extLst>
          </p:cNvPr>
          <p:cNvSpPr txBox="1"/>
          <p:nvPr/>
        </p:nvSpPr>
        <p:spPr>
          <a:xfrm>
            <a:off x="3185668" y="2505346"/>
            <a:ext cx="1106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>
                <a:latin typeface="+mn-ea"/>
                <a:ea typeface="+mn-ea"/>
              </a:rPr>
              <a:t>分配</a:t>
            </a:r>
            <a:r>
              <a:rPr lang="en-US" altLang="zh-TW" sz="1600" dirty="0">
                <a:latin typeface="+mn-ea"/>
                <a:ea typeface="+mn-ea"/>
              </a:rPr>
              <a:t> 2</a:t>
            </a: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DDC486C1-73BD-F418-944D-7B8AF64C2C93}"/>
              </a:ext>
            </a:extLst>
          </p:cNvPr>
          <p:cNvSpPr txBox="1"/>
          <p:nvPr/>
        </p:nvSpPr>
        <p:spPr>
          <a:xfrm>
            <a:off x="3191744" y="3593579"/>
            <a:ext cx="1106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>
                <a:latin typeface="+mn-ea"/>
                <a:ea typeface="+mn-ea"/>
              </a:rPr>
              <a:t>分配</a:t>
            </a:r>
            <a:r>
              <a:rPr lang="en-US" altLang="zh-TW" sz="1600" dirty="0">
                <a:latin typeface="+mn-ea"/>
                <a:ea typeface="+mn-ea"/>
              </a:rPr>
              <a:t> 3</a:t>
            </a: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1C68A1E4-CA2D-5FBA-E717-770587194DDC}"/>
              </a:ext>
            </a:extLst>
          </p:cNvPr>
          <p:cNvSpPr txBox="1"/>
          <p:nvPr/>
        </p:nvSpPr>
        <p:spPr>
          <a:xfrm>
            <a:off x="3227351" y="4679063"/>
            <a:ext cx="1106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>
                <a:latin typeface="+mn-ea"/>
                <a:ea typeface="+mn-ea"/>
              </a:rPr>
              <a:t>分配</a:t>
            </a:r>
            <a:r>
              <a:rPr lang="en-US" altLang="zh-TW" sz="1600" dirty="0">
                <a:latin typeface="+mn-ea"/>
                <a:ea typeface="+mn-ea"/>
              </a:rPr>
              <a:t> 4</a:t>
            </a:r>
          </a:p>
        </p:txBody>
      </p:sp>
      <p:sp>
        <p:nvSpPr>
          <p:cNvPr id="60" name="箭號: 向下 59">
            <a:extLst>
              <a:ext uri="{FF2B5EF4-FFF2-40B4-BE49-F238E27FC236}">
                <a16:creationId xmlns:a16="http://schemas.microsoft.com/office/drawing/2014/main" id="{3377E520-E25B-C2A3-5F6F-89D2482424F1}"/>
              </a:ext>
            </a:extLst>
          </p:cNvPr>
          <p:cNvSpPr/>
          <p:nvPr/>
        </p:nvSpPr>
        <p:spPr bwMode="auto">
          <a:xfrm rot="2700000">
            <a:off x="2635746" y="3458855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2" name="箭號: 向下 61">
            <a:extLst>
              <a:ext uri="{FF2B5EF4-FFF2-40B4-BE49-F238E27FC236}">
                <a16:creationId xmlns:a16="http://schemas.microsoft.com/office/drawing/2014/main" id="{20349C84-53FD-36F2-67BB-E97915DEA87D}"/>
              </a:ext>
            </a:extLst>
          </p:cNvPr>
          <p:cNvSpPr/>
          <p:nvPr/>
        </p:nvSpPr>
        <p:spPr bwMode="auto">
          <a:xfrm rot="2700000">
            <a:off x="2635745" y="2460413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144" name="箭號: 向下 6143">
            <a:extLst>
              <a:ext uri="{FF2B5EF4-FFF2-40B4-BE49-F238E27FC236}">
                <a16:creationId xmlns:a16="http://schemas.microsoft.com/office/drawing/2014/main" id="{83B19631-1B0A-10AB-74EE-CA06DBE470F7}"/>
              </a:ext>
            </a:extLst>
          </p:cNvPr>
          <p:cNvSpPr/>
          <p:nvPr/>
        </p:nvSpPr>
        <p:spPr bwMode="auto">
          <a:xfrm rot="2700000">
            <a:off x="2647622" y="1270625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9DF45707-27F1-2B1C-4ECD-82DF3AD2D0A7}"/>
              </a:ext>
            </a:extLst>
          </p:cNvPr>
          <p:cNvSpPr/>
          <p:nvPr/>
        </p:nvSpPr>
        <p:spPr bwMode="auto">
          <a:xfrm rot="2700000">
            <a:off x="2635746" y="3427543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33E0A1F-A225-D300-3F77-A34D2D37146F}"/>
              </a:ext>
            </a:extLst>
          </p:cNvPr>
          <p:cNvSpPr txBox="1"/>
          <p:nvPr/>
        </p:nvSpPr>
        <p:spPr>
          <a:xfrm>
            <a:off x="5976156" y="1946775"/>
            <a:ext cx="805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d1 = 1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d2 = 1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3C50F53-F6D8-DD0E-605D-3ED2B9363325}"/>
              </a:ext>
            </a:extLst>
          </p:cNvPr>
          <p:cNvSpPr txBox="1"/>
          <p:nvPr/>
        </p:nvSpPr>
        <p:spPr>
          <a:xfrm>
            <a:off x="5976156" y="2990471"/>
            <a:ext cx="805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d1 = 3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d2 = 3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18" name="箭號: 向下 17">
            <a:extLst>
              <a:ext uri="{FF2B5EF4-FFF2-40B4-BE49-F238E27FC236}">
                <a16:creationId xmlns:a16="http://schemas.microsoft.com/office/drawing/2014/main" id="{CBEFE22D-3AB9-F476-B41D-551D63042E36}"/>
              </a:ext>
            </a:extLst>
          </p:cNvPr>
          <p:cNvSpPr/>
          <p:nvPr/>
        </p:nvSpPr>
        <p:spPr bwMode="auto">
          <a:xfrm rot="18900000">
            <a:off x="6203415" y="3427543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箭號: 向下 18">
            <a:extLst>
              <a:ext uri="{FF2B5EF4-FFF2-40B4-BE49-F238E27FC236}">
                <a16:creationId xmlns:a16="http://schemas.microsoft.com/office/drawing/2014/main" id="{3EA0C2E7-954B-F008-46E5-0C038C60BF23}"/>
              </a:ext>
            </a:extLst>
          </p:cNvPr>
          <p:cNvSpPr/>
          <p:nvPr/>
        </p:nvSpPr>
        <p:spPr bwMode="auto">
          <a:xfrm rot="18900000">
            <a:off x="6203414" y="2429101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箭號: 向下 19">
            <a:extLst>
              <a:ext uri="{FF2B5EF4-FFF2-40B4-BE49-F238E27FC236}">
                <a16:creationId xmlns:a16="http://schemas.microsoft.com/office/drawing/2014/main" id="{11AE8E61-3B8F-9B11-ECD6-5627106FE143}"/>
              </a:ext>
            </a:extLst>
          </p:cNvPr>
          <p:cNvSpPr/>
          <p:nvPr/>
        </p:nvSpPr>
        <p:spPr bwMode="auto">
          <a:xfrm rot="18900000">
            <a:off x="6215291" y="1239313"/>
            <a:ext cx="216024" cy="531476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4ED80003-1CDB-C3D1-D5C9-B260E5723138}"/>
              </a:ext>
            </a:extLst>
          </p:cNvPr>
          <p:cNvCxnSpPr/>
          <p:nvPr/>
        </p:nvCxnSpPr>
        <p:spPr bwMode="auto">
          <a:xfrm flipH="1">
            <a:off x="7908509" y="5169501"/>
            <a:ext cx="147670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76587E8C-02C6-9643-11EA-B55A81FD4F7F}"/>
              </a:ext>
            </a:extLst>
          </p:cNvPr>
          <p:cNvCxnSpPr>
            <a:cxnSpLocks/>
          </p:cNvCxnSpPr>
          <p:nvPr/>
        </p:nvCxnSpPr>
        <p:spPr bwMode="auto">
          <a:xfrm flipH="1">
            <a:off x="6337167" y="3606049"/>
            <a:ext cx="118716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28300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34" grpId="0" animBg="1"/>
      <p:bldP spid="38" grpId="0"/>
      <p:bldP spid="39" grpId="0"/>
      <p:bldP spid="42" grpId="0"/>
      <p:bldP spid="43" grpId="0"/>
      <p:bldP spid="44" grpId="0"/>
      <p:bldP spid="45" grpId="0"/>
      <p:bldP spid="47" grpId="0" animBg="1"/>
      <p:bldP spid="48" grpId="0" animBg="1"/>
      <p:bldP spid="49" grpId="0" animBg="1"/>
      <p:bldP spid="51" grpId="0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800EE525-6C00-EE12-2239-0B204626C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60648"/>
            <a:ext cx="8077200" cy="659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TW" sz="2400" b="1" dirty="0">
                <a:latin typeface="Times New Roman" panose="02020603050405020304" pitchFamily="18" charset="0"/>
              </a:rPr>
              <a:t>※</a:t>
            </a:r>
            <a:r>
              <a:rPr lang="zh-TW" altLang="en-US" sz="2400" b="1" dirty="0">
                <a:latin typeface="Times New Roman" panose="02020603050405020304" pitchFamily="18" charset="0"/>
              </a:rPr>
              <a:t>注意</a:t>
            </a:r>
            <a:r>
              <a:rPr lang="en-US" altLang="zh-TW" sz="2400" b="1" dirty="0">
                <a:latin typeface="Times New Roman" panose="02020603050405020304" pitchFamily="18" charset="0"/>
              </a:rPr>
              <a:t>※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</a:rPr>
              <a:t>如果</a:t>
            </a:r>
            <a:r>
              <a:rPr lang="en-US" altLang="zh-TW" sz="2400" dirty="0">
                <a:latin typeface="Times New Roman" panose="02020603050405020304" pitchFamily="18" charset="0"/>
              </a:rPr>
              <a:t>d1 &gt; d2</a:t>
            </a:r>
            <a:r>
              <a:rPr lang="zh-TW" altLang="en-US" sz="2400" dirty="0">
                <a:latin typeface="Times New Roman" panose="02020603050405020304" pitchFamily="18" charset="0"/>
              </a:rPr>
              <a:t>的話，可以在丟入下一層前將</a:t>
            </a:r>
            <a:r>
              <a:rPr lang="en-US" altLang="zh-TW" sz="2400" dirty="0">
                <a:latin typeface="Times New Roman" panose="02020603050405020304" pitchFamily="18" charset="0"/>
              </a:rPr>
              <a:t>d1</a:t>
            </a:r>
            <a:r>
              <a:rPr lang="zh-TW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TW" sz="2400" dirty="0">
                <a:latin typeface="Times New Roman" panose="02020603050405020304" pitchFamily="18" charset="0"/>
              </a:rPr>
              <a:t>d2</a:t>
            </a:r>
            <a:r>
              <a:rPr lang="zh-TW" altLang="en-US" sz="2400" dirty="0">
                <a:latin typeface="Times New Roman" panose="02020603050405020304" pitchFamily="18" charset="0"/>
              </a:rPr>
              <a:t>的值對調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</a:rPr>
              <a:t>因為該組合有可能已經在之前就計算過了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</a:rPr>
              <a:t>可直接從</a:t>
            </a:r>
            <a:r>
              <a:rPr lang="en-US" altLang="zh-TW" sz="2400" dirty="0" err="1">
                <a:latin typeface="Times New Roman" panose="02020603050405020304" pitchFamily="18" charset="0"/>
              </a:rPr>
              <a:t>dp</a:t>
            </a:r>
            <a:r>
              <a:rPr lang="zh-TW" altLang="en-US" sz="2400" dirty="0">
                <a:latin typeface="Times New Roman" panose="02020603050405020304" pitchFamily="18" charset="0"/>
              </a:rPr>
              <a:t>中調用結果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</a:rPr>
              <a:t>如此一來可節省程式執行時間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討論：</a:t>
            </a:r>
            <a:r>
              <a:rPr lang="en-US" altLang="zh-TW" sz="2400" dirty="0">
                <a:latin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</a:rPr>
              <a:t>無</a:t>
            </a:r>
            <a:r>
              <a:rPr lang="en-US" altLang="zh-TW" sz="2400" dirty="0">
                <a:latin typeface="Times New Roman" panose="02020603050405020304" pitchFamily="18" charset="0"/>
              </a:rPr>
              <a:t>)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6" name="投影片編號版面配置區 5">
            <a:extLst>
              <a:ext uri="{FF2B5EF4-FFF2-40B4-BE49-F238E27FC236}">
                <a16:creationId xmlns:a16="http://schemas.microsoft.com/office/drawing/2014/main" id="{32013E47-2F72-3841-6AD5-F546BFF1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7B08AE-DC21-42BD-BDE3-B49E36F9AC30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1939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高程PPT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3185</TotalTime>
  <Words>835</Words>
  <Application>Microsoft Office PowerPoint</Application>
  <PresentationFormat>如螢幕大小 (4:3)</PresentationFormat>
  <Paragraphs>186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新細明體</vt:lpstr>
      <vt:lpstr>Aptos</vt:lpstr>
      <vt:lpstr>Arial</vt:lpstr>
      <vt:lpstr>Consolas</vt:lpstr>
      <vt:lpstr>Tahoma</vt:lpstr>
      <vt:lpstr>Times New Roman</vt:lpstr>
      <vt:lpstr>Wingdings</vt:lpstr>
      <vt:lpstr>Blends</vt:lpstr>
      <vt:lpstr>10482: TheCandymanCan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3 Greedy methods</dc:title>
  <dc:creator>cby</dc:creator>
  <cp:lastModifiedBy>B113040045</cp:lastModifiedBy>
  <cp:revision>297</cp:revision>
  <dcterms:created xsi:type="dcterms:W3CDTF">1601-01-01T00:00:00Z</dcterms:created>
  <dcterms:modified xsi:type="dcterms:W3CDTF">2024-05-23T02:15:09Z</dcterms:modified>
</cp:coreProperties>
</file>